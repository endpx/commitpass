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22a00c52634de3" /><Relationship Type="http://schemas.openxmlformats.org/officeDocument/2006/relationships/extended-properties" Target="/docProps/app.xml" Id="Rf11a1e61d60e455f" /><Relationship Type="http://schemas.openxmlformats.org/officeDocument/2006/relationships/officeDocument" Target="/ppt/presentation.xml" Id="R56de662afe104b2b" /></Relationships>
</file>

<file path=ppt/presentation.xml><?xml version="1.0" encoding="utf-8"?>
<p:presentation xmlns:p="http://schemas.openxmlformats.org/presentationml/2006/main">
  <p:sldMasterIdLst>
    <p:sldMasterId xmlns:r="http://schemas.openxmlformats.org/officeDocument/2006/relationships" id="2147483648" r:id="R07d77472443f4220"/>
  </p:sldMasterIdLst>
  <p:notesMasterIdLst>
    <p:notesMasterId xmlns:r="http://schemas.openxmlformats.org/officeDocument/2006/relationships" r:id="R2e01ce0515fe408c"/>
  </p:notesMasterIdLst>
  <p:sldIdLst>
    <p:sldId xmlns:r="http://schemas.openxmlformats.org/officeDocument/2006/relationships" id="256" r:id="Rc337b1d3b1824921"/>
    <p:sldId xmlns:r="http://schemas.openxmlformats.org/officeDocument/2006/relationships" id="257" r:id="Rc8c73c0cac874b8d"/>
    <p:sldId xmlns:r="http://schemas.openxmlformats.org/officeDocument/2006/relationships" id="258" r:id="Rd2a4c0c637464d7c"/>
    <p:sldId xmlns:r="http://schemas.openxmlformats.org/officeDocument/2006/relationships" id="259" r:id="R38387cb0bff145d1"/>
    <p:sldId xmlns:r="http://schemas.openxmlformats.org/officeDocument/2006/relationships" id="260" r:id="Rf86bdb432b7741e0"/>
    <p:sldId xmlns:r="http://schemas.openxmlformats.org/officeDocument/2006/relationships" id="261" r:id="R1bc3a6fbeeb24aea"/>
    <p:sldId xmlns:r="http://schemas.openxmlformats.org/officeDocument/2006/relationships" id="262" r:id="R09a395be5bc94632"/>
    <p:sldId xmlns:r="http://schemas.openxmlformats.org/officeDocument/2006/relationships" id="263" r:id="Rec782a94c69a40a1"/>
    <p:sldId xmlns:r="http://schemas.openxmlformats.org/officeDocument/2006/relationships" id="264" r:id="Rc14c70a2c5ac4374"/>
    <p:sldId xmlns:r="http://schemas.openxmlformats.org/officeDocument/2006/relationships" id="265" r:id="R192f3aea1dc140a8"/>
    <p:sldId xmlns:r="http://schemas.openxmlformats.org/officeDocument/2006/relationships" id="266" r:id="Rc791c842379d47db"/>
    <p:sldId xmlns:r="http://schemas.openxmlformats.org/officeDocument/2006/relationships" id="267" r:id="Rbe9993a69cd847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40c97dc6bb4f68" /><Relationship Type="http://schemas.openxmlformats.org/officeDocument/2006/relationships/slideMaster" Target="/ppt/slideMasters/slideMaster1.xml" Id="R07d77472443f4220" /><Relationship Type="http://schemas.openxmlformats.org/officeDocument/2006/relationships/notesMaster" Target="/ppt/notesMasters/notesMaster1.xml" Id="R2e01ce0515fe408c" /><Relationship Type="http://schemas.openxmlformats.org/officeDocument/2006/relationships/presProps" Target="/ppt/presProps.xml" Id="R8c46e1fa506a44ed" /><Relationship Type="http://schemas.openxmlformats.org/officeDocument/2006/relationships/tableStyles" Target="/ppt/tableStyles.xml" Id="R9d299835788f4eda" /><Relationship Type="http://schemas.openxmlformats.org/officeDocument/2006/relationships/slide" Target="/ppt/slides/slide1.xml" Id="Rc337b1d3b1824921" /><Relationship Type="http://schemas.openxmlformats.org/officeDocument/2006/relationships/slide" Target="/ppt/slides/slide2.xml" Id="Rc8c73c0cac874b8d" /><Relationship Type="http://schemas.openxmlformats.org/officeDocument/2006/relationships/slide" Target="/ppt/slides/slide3.xml" Id="Rd2a4c0c637464d7c" /><Relationship Type="http://schemas.openxmlformats.org/officeDocument/2006/relationships/slide" Target="/ppt/slides/slide4.xml" Id="R38387cb0bff145d1" /><Relationship Type="http://schemas.openxmlformats.org/officeDocument/2006/relationships/slide" Target="/ppt/slides/slide5.xml" Id="Rf86bdb432b7741e0" /><Relationship Type="http://schemas.openxmlformats.org/officeDocument/2006/relationships/slide" Target="/ppt/slides/slide6.xml" Id="R1bc3a6fbeeb24aea" /><Relationship Type="http://schemas.openxmlformats.org/officeDocument/2006/relationships/slide" Target="/ppt/slides/slide7.xml" Id="R09a395be5bc94632" /><Relationship Type="http://schemas.openxmlformats.org/officeDocument/2006/relationships/slide" Target="/ppt/slides/slide8.xml" Id="Rec782a94c69a40a1" /><Relationship Type="http://schemas.openxmlformats.org/officeDocument/2006/relationships/slide" Target="/ppt/slides/slide9.xml" Id="Rc14c70a2c5ac4374" /><Relationship Type="http://schemas.openxmlformats.org/officeDocument/2006/relationships/slide" Target="/ppt/slides/slide10.xml" Id="R192f3aea1dc140a8" /><Relationship Type="http://schemas.openxmlformats.org/officeDocument/2006/relationships/slide" Target="/ppt/slides/slide11.xml" Id="Rc791c842379d47db" /><Relationship Type="http://schemas.openxmlformats.org/officeDocument/2006/relationships/slide" Target="/ppt/slides/slide12.xml" Id="Rbe9993a69cd847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e68786ce424f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8e1ba2461b49b4" /><Relationship Type="http://schemas.openxmlformats.org/officeDocument/2006/relationships/notesMaster" Target="/ppt/notesMasters/notesMaster1.xml" Id="R2d54d3d1a4be4c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93cfb07d7a4b07" /><Relationship Type="http://schemas.openxmlformats.org/officeDocument/2006/relationships/notesMaster" Target="/ppt/notesMasters/notesMaster1.xml" Id="R0678009c92604e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8477eabbaf454c" /><Relationship Type="http://schemas.openxmlformats.org/officeDocument/2006/relationships/notesMaster" Target="/ppt/notesMasters/notesMaster1.xml" Id="Rab426ef664f946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b4c40a30144742" /><Relationship Type="http://schemas.openxmlformats.org/officeDocument/2006/relationships/notesMaster" Target="/ppt/notesMasters/notesMaster1.xml" Id="R0d79a81520994c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837ea938014ab6" /><Relationship Type="http://schemas.openxmlformats.org/officeDocument/2006/relationships/notesMaster" Target="/ppt/notesMasters/notesMaster1.xml" Id="R19c7d710b9e644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846e384ef14804" /><Relationship Type="http://schemas.openxmlformats.org/officeDocument/2006/relationships/notesMaster" Target="/ppt/notesMasters/notesMaster1.xml" Id="R9ba385944e8645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af243de12a495f" /><Relationship Type="http://schemas.openxmlformats.org/officeDocument/2006/relationships/notesMaster" Target="/ppt/notesMasters/notesMaster1.xml" Id="R079060167f0e45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616660a4c849dd" /><Relationship Type="http://schemas.openxmlformats.org/officeDocument/2006/relationships/notesMaster" Target="/ppt/notesMasters/notesMaster1.xml" Id="Rfea479c5478649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b156aa2b924ee5" /><Relationship Type="http://schemas.openxmlformats.org/officeDocument/2006/relationships/notesMaster" Target="/ppt/notesMasters/notesMaster1.xml" Id="Rd3f5d13089ad4e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88f580b1004c03" /><Relationship Type="http://schemas.openxmlformats.org/officeDocument/2006/relationships/notesMaster" Target="/ppt/notesMasters/notesMaster1.xml" Id="R5cdfe7edc4584b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5bb6b4daf44c70" /><Relationship Type="http://schemas.openxmlformats.org/officeDocument/2006/relationships/notesMaster" Target="/ppt/notesMasters/notesMaster1.xml" Id="Ra29bcd0cdcca47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52628a2abb4661" /><Relationship Type="http://schemas.openxmlformats.org/officeDocument/2006/relationships/notesMaster" Target="/ppt/notesMasters/notesMaster1.xml" Id="R9c9feab531844b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 seconds</a:t>
            </a:r>
          </a:p>
          <a:p xmlns:a="http://schemas.openxmlformats.org/drawingml/2006/main">
            <a:r>
              <a:t>NARRATION</a:t>
            </a:r>
          </a:p>
          <a:p xmlns:a="http://schemas.openxmlformats.org/drawingml/2006/main">
            <a:r>
              <a:t>At a workshop I joined, many registered guests never showed up. Their reserved seats stayed empty.</a:t>
            </a:r>
          </a:p>
          <a:p xmlns:a="http://schemas.openxmlformats.org/drawingml/2006/main">
            <a:r>
              <a:t/>
            </a:r>
          </a:p>
          <a:p xmlns:a="http://schemas.openxmlformats.org/drawingml/2006/main">
            <a:r>
              <a:t>SUPPORTING NOTES AND SOURCES</a:t>
            </a:r>
          </a:p>
          <a:p xmlns:a="http://schemas.openxmlformats.org/drawingml/2006/main">
            <a:r>
              <a:t>The workshop experience is supplied by Albary. The opening hook is narration only. Original CommitPass logo. Dark terracotta and cream ring artwork generated with the built-in image tool; source asset commitpass-dark-accent-v9.png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 seconds</a:t>
            </a:r>
          </a:p>
          <a:p xmlns:a="http://schemas.openxmlformats.org/drawingml/2006/main">
            <a:r>
              <a:t>NARRATION</a:t>
            </a:r>
          </a:p>
          <a:p xmlns:a="http://schemas.openxmlformats.org/drawingml/2006/main">
            <a:r>
              <a:t>On platforms like Luma, reserving a seat is easy. But an RSVP doesn’t mean someone will show up. Hosts prepare, while others lose their chance to join.</a:t>
            </a:r>
          </a:p>
          <a:p xmlns:a="http://schemas.openxmlformats.org/drawingml/2006/main">
            <a:r>
              <a:t/>
            </a:r>
          </a:p>
          <a:p xmlns:a="http://schemas.openxmlformats.org/drawingml/2006/main">
            <a:r>
              <a:t>SUPPORTING NOTES AND SOURCES</a:t>
            </a:r>
          </a:p>
          <a:p xmlns:a="http://schemas.openxmlformats.org/drawingml/2006/main">
            <a:r>
              <a:t>Problem statement concerns limited-capacity workshops and community events. Image is an illustration from KNVI Labs, not measured CommitPass attendance or a photograph of Albary's workshop. Source: https://www.knvilabs.com/stories/no-show-rate-definition-and-benchmarks-2026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14 seconds</a:t>
            </a:r>
          </a:p>
          <a:p xmlns:a="http://schemas.openxmlformats.org/drawingml/2006/main">
            <a:r>
              <a:t>NARRATION</a:t>
            </a:r>
          </a:p>
          <a:p xmlns:a="http://schemas.openxmlformats.org/drawingml/2006/main">
            <a:r>
              <a:t>KNVI Labs reports forty to sixty percent no-shows at free events. That matches the problem I saw. That made me ask: how can we turn a reservation into a real commitment?</a:t>
            </a:r>
          </a:p>
          <a:p xmlns:a="http://schemas.openxmlformats.org/drawingml/2006/main">
            <a:r>
              <a:t/>
            </a:r>
          </a:p>
          <a:p xmlns:a="http://schemas.openxmlformats.org/drawingml/2006/main">
            <a:r>
              <a:t>SUPPORTING NOTES AND SOURCES</a:t>
            </a:r>
          </a:p>
          <a:p xmlns:a="http://schemas.openxmlformats.org/drawingml/2006/main">
            <a:r>
              <a:t>Source: https://www.knvilabs.com/stories/no-show-rate-definition-and-benchmarks-2026 , published 23 June 2026. Provider estimates for North America, with no linked dataset or detailed sampling method. External context, not measured CommitPass effectiveness. The spoken question ends this slide and introduces the refundable-deposit rationale on the next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18 seconds</a:t>
            </a:r>
          </a:p>
          <a:p xmlns:a="http://schemas.openxmlformats.org/drawingml/2006/main">
            <a:r>
              <a:t>NARRATION</a:t>
            </a:r>
          </a:p>
          <a:p xmlns:a="http://schemas.openxmlformats.org/drawingml/2006/main">
            <a:r>
              <a:t>The same guide reports fourteen to twenty-five percent no-shows with small refundable deposits. They give people a reason to follow through. That’s the idea behind CommitPass: reserve with USDC, show up, and claim your deposit back after settlement.</a:t>
            </a:r>
          </a:p>
          <a:p xmlns:a="http://schemas.openxmlformats.org/drawingml/2006/main">
            <a:r>
              <a:t/>
            </a:r>
          </a:p>
          <a:p xmlns:a="http://schemas.openxmlformats.org/drawingml/2006/main">
            <a:r>
              <a:t>SUPPORTING NOTES AND SOURCES</a:t>
            </a:r>
          </a:p>
          <a:p xmlns:a="http://schemas.openxmlformats.org/drawingml/2006/main">
            <a:r>
              <a:t>Source: https://www.knvilabs.com/stories/no-show-rate-definition-and-benchmarks-2026 , published 23 June 2026. North American provider estimates for $3–$25 deposits, not controlled causal proof or measured CommitPass results. Product flow and policy: https://sama-3.gitbook.io/commitpass-docs/documentation/ ; https://github.com/EndPx/commitpass/blob/main/contracts/SETTLEMENT.md . Host cancellation and zero-attendance outcomes have separate principal-refund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14 seconds</a:t>
            </a:r>
          </a:p>
          <a:p xmlns:a="http://schemas.openxmlformats.org/drawingml/2006/main">
            <a:r>
              <a:t>NARRATION</a:t>
            </a:r>
          </a:p>
          <a:p xmlns:a="http://schemas.openxmlformats.org/drawingml/2006/main">
            <a:r>
              <a:t>With money involved, guests need to see where it goes. Blockchain records the deposits and payouts, while contracts apply the rules. Monad adds fast, low-cost transactions with familiar Ethereum tools.</a:t>
            </a:r>
          </a:p>
          <a:p xmlns:a="http://schemas.openxmlformats.org/drawingml/2006/main">
            <a:r>
              <a:t/>
            </a:r>
          </a:p>
          <a:p xmlns:a="http://schemas.openxmlformats.org/drawingml/2006/main">
            <a:r>
              <a:t>SUPPORTING NOTES AND SOURCES</a:t>
            </a:r>
          </a:p>
          <a:p xmlns:a="http://schemas.openxmlformats.org/drawingml/2006/main">
            <a:r>
              <a:t>Monad platform facts: https://docs.monad.xyz/introduction/monad-for-users and https://docs.monad.xyz/introduction/monad-for-developers , checked 6 October 2026. Performance and low costs are platform characteristics described by Monad, not measured CommitPass transaction benchmarks or a guaranteed fee. CommitPass rationale and financial behavior: contracts/src/CommitPassVault.sol and https://github.com/EndPx/commitpass/blob/main/contracts/SETTLEMENT.md . Deposits, allocation state, and completed claims are distinct onchain records. Organizer-authorized attendance originates offchain; blockchain does not independently prove physical attendance. The current public demo is on Monad 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9 seconds</a:t>
            </a:r>
          </a:p>
          <a:p xmlns:a="http://schemas.openxmlformats.org/drawingml/2006/main">
            <a:r>
              <a:t>NARRATION</a:t>
            </a:r>
          </a:p>
          <a:p xmlns:a="http://schemas.openxmlformats.org/drawingml/2006/main">
            <a:r>
              <a:t>Hosts create the event. Guests commit USDC and get a QR pass. At the door, the host scans it to record attendance.</a:t>
            </a:r>
          </a:p>
          <a:p xmlns:a="http://schemas.openxmlformats.org/drawingml/2006/main">
            <a:r>
              <a:t/>
            </a:r>
          </a:p>
          <a:p xmlns:a="http://schemas.openxmlformats.org/drawingml/2006/main">
            <a:r>
              <a:t>SUPPORTING NOTES AND SOURCES</a:t>
            </a:r>
          </a:p>
          <a:p xmlns:a="http://schemas.openxmlformats.org/drawingml/2006/main">
            <a:r>
              <a:t>Screenshots are recorded CommitPass testnet product screens from the workspace. Financial actions use the vault contract; organizer-authorized API records check-ins. Source: https://github.com/EndPx/commitpass . Allocation and payout are distinct. Guest pass and host participant screenshots are embedded original images with native cropping; editable six-step process and attached connectors remain native.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 seconds</a:t>
            </a:r>
          </a:p>
          <a:p xmlns:a="http://schemas.openxmlformats.org/drawingml/2006/main">
            <a:r>
              <a:t>NARRATION</a:t>
            </a:r>
          </a:p>
          <a:p xmlns:a="http://schemas.openxmlformats.org/drawingml/2006/main">
            <a:r>
              <a:t>While we’re at the event, our money doesn’t just sit there. It can earn extra money through a Morpho vault. I’ve tested that path in Tenderly.</a:t>
            </a:r>
          </a:p>
          <a:p xmlns:a="http://schemas.openxmlformats.org/drawingml/2006/main">
            <a:r>
              <a:t/>
            </a:r>
          </a:p>
          <a:p xmlns:a="http://schemas.openxmlformats.org/drawingml/2006/main">
            <a:r>
              <a:t>SUPPORTING NOTES AND SOURCES</a:t>
            </a:r>
          </a:p>
          <a:p xmlns:a="http://schemas.openxmlformats.org/drawingml/2006/main">
            <a:r>
              <a:t>The builder reports testing the Morpho integration path using Tenderly. This deck does not independently verify that simulation or assert a deployed Morpho integration in the public demo. Target vault: https://app.morpho.org/monad/vault/0x78999cc96d2Ba0341588C60CcB0E91c6C33CF371/hyperithm-usdc-apex . Current configuration: https://github.com/EndPx/commitpass/blob/main/packages/shared/src/deployments/monad-testnet.json . Settlement redeems shares and checks principal before allocations. Shortfall or redemption failure reverts settlement; there is no guaranteed APY or payout.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12 seconds</a:t>
            </a:r>
          </a:p>
          <a:p xmlns:a="http://schemas.openxmlformats.org/drawingml/2006/main">
            <a:r>
              <a:t>NARRATION</a:t>
            </a:r>
          </a:p>
          <a:p xmlns:a="http://schemas.openxmlformats.org/drawingml/2006/main">
            <a:r>
              <a:t>Showing up also earns a share of forfeited deposits. Two guests deposit five dollars; one attends. That guest gets seven-fifty plus recovered yield. CommitPass gets two-fifty.</a:t>
            </a:r>
          </a:p>
          <a:p xmlns:a="http://schemas.openxmlformats.org/drawingml/2006/main">
            <a:r>
              <a:t/>
            </a:r>
          </a:p>
          <a:p xmlns:a="http://schemas.openxmlformats.org/drawingml/2006/main">
            <a:r>
              <a:t>SUPPORTING NOTES AND SOURCES</a:t>
            </a:r>
          </a:p>
          <a:p xmlns:a="http://schemas.openxmlformats.org/drawingml/2006/main">
            <a:r>
              <a:t>Illustrative example, not a measured event return. Two 5 USDC deposits = 10 USDC principal. Guest A receives 5 principal + 2.5 no-show share. CommitPass receives 2.5. Guest B receives zero. All recovered surplus goes to attendees. With multiple attendees, the attendee pool is shared under the fixed-deposit contract allocation policy. Contract source: https://github.com/EndPx/commitpass/blob/main/contracts/src/CommitPassVault.sol ; policy: https://github.com/EndPx/commitpass/blob/main/contracts/SETTLEMENT.md . If yield redemption fails or assets recovered are below principal, settlement reverts and claims cannot open from that failed settlement.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 seconds</a:t>
            </a:r>
          </a:p>
          <a:p xmlns:a="http://schemas.openxmlformats.org/drawingml/2006/main">
            <a:r>
              <a:t>NARRATION</a:t>
            </a:r>
          </a:p>
          <a:p xmlns:a="http://schemas.openxmlformats.org/drawingml/2006/main">
            <a:r>
              <a:t>That protocol share is our current revenue mechanism. Next, I’ll test paid organizer tools for repeat events and attendance analytics.</a:t>
            </a:r>
          </a:p>
          <a:p xmlns:a="http://schemas.openxmlformats.org/drawingml/2006/main">
            <a:r>
              <a:t/>
            </a:r>
          </a:p>
          <a:p xmlns:a="http://schemas.openxmlformats.org/drawingml/2006/main">
            <a:r>
              <a:t>SUPPORTING NOTES AND SOURCES</a:t>
            </a:r>
          </a:p>
          <a:p xmlns:a="http://schemas.openxmlformats.org/drawingml/2006/main">
            <a:r>
              <a:t>Current protocol mechanism applies only to normal settlement with eligible attendees. If there is no no-show principal, this source of revenue is zero. Planned organizer tools are a future commercial direction, not active subscriptions or demonstrated paid demand. Current policy: https://github.com/EndPx/commitpass/blob/main/contracts/SETTLEMENT.md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 seconds</a:t>
            </a:r>
          </a:p>
          <a:p xmlns:a="http://schemas.openxmlformats.org/drawingml/2006/main">
            <a:r>
              <a:t>NARRATION</a:t>
            </a:r>
          </a:p>
          <a:p xmlns:a="http://schemas.openxmlformats.org/drawingml/2006/main">
            <a:r>
              <a:t>I’ll start with community workshop hosts, help them run pilots, and measure attendance and repeat use before expanding to production and paid tools.</a:t>
            </a:r>
          </a:p>
          <a:p xmlns:a="http://schemas.openxmlformats.org/drawingml/2006/main">
            <a:r>
              <a:t/>
            </a:r>
          </a:p>
          <a:p xmlns:a="http://schemas.openxmlformats.org/drawingml/2006/main">
            <a:r>
              <a:t>SUPPORTING NOTES AND SOURCES</a:t>
            </a:r>
          </a:p>
          <a:p xmlns:a="http://schemas.openxmlformats.org/drawingml/2006/main">
            <a:r>
              <a:t>Roadmap directions are proposed, without a dated delivery promise. Initial targets are 3–5 organizers and 5–10 pilot events, not existing traction. Testnet demo and mainnet readiness are separate. Public plan: https://sama-3.gitbook.io/commitpass-docs/documentation/mission/roadmap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 seconds</a:t>
            </a:r>
          </a:p>
          <a:p xmlns:a="http://schemas.openxmlformats.org/drawingml/2006/main">
            <a:r>
              <a:t>NARRATION</a:t>
            </a:r>
          </a:p>
          <a:p xmlns:a="http://schemas.openxmlformats.org/drawingml/2006/main">
            <a:r>
              <a:t>I’m Albary, the fullstack developer and solo builder behind CommitPass.</a:t>
            </a:r>
          </a:p>
          <a:p xmlns:a="http://schemas.openxmlformats.org/drawingml/2006/main">
            <a:r>
              <a:t/>
            </a:r>
          </a:p>
          <a:p xmlns:a="http://schemas.openxmlformats.org/drawingml/2006/main">
            <a:r>
              <a:t>SUPPORTING NOTES AND SOURCES</a:t>
            </a:r>
          </a:p>
          <a:p xmlns:a="http://schemas.openxmlformats.org/drawingml/2006/main">
            <a:r>
              <a:t>Name, preferred name, role, solo status and X handle were supplied by the user. Profile: https://x.com/endpx_ . Original avatar reference: https://pbs.twimg.com/profile_images/2079847479584108544/_s7gCZDw_normal.jpg . Higher-resolution variant retrieved from the same asset: https://pbs.twimg.com/profile_images/2079847479584108544/_s7gCZDw_400x400.jpg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 seconds</a:t>
            </a:r>
          </a:p>
          <a:p xmlns:a="http://schemas.openxmlformats.org/drawingml/2006/main">
            <a:r>
              <a:t>NARRATION</a:t>
            </a:r>
          </a:p>
          <a:p xmlns:a="http://schemas.openxmlformats.org/drawingml/2006/main">
            <a:r>
              <a:t>Thank you.</a:t>
            </a:r>
          </a:p>
          <a:p xmlns:a="http://schemas.openxmlformats.org/drawingml/2006/main">
            <a:r>
              <a:t/>
            </a:r>
          </a:p>
          <a:p xmlns:a="http://schemas.openxmlformats.org/drawingml/2006/main">
            <a:r>
              <a:t>SUPPORTING NOTES AND SOURCES</a:t>
            </a:r>
          </a:p>
          <a:p xmlns:a="http://schemas.openxmlformats.org/drawingml/2006/main">
            <a:r>
              <a:t>Application: https://commitpass-event.vercel.app/ . Repository: https://github.com/EndPx/commitpass . GitBook: https://sama-3.gitbook.io/commitpass-docs/ . Both QR codes encode their respective HTTPS URLs with four-module quiet zones and medium error correction. Dark terracotta and cream ring artwork: commitpass-dark-accent-v9.png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0f1c6e0eb74f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9eabb999ea4282" /><Relationship Type="http://schemas.openxmlformats.org/officeDocument/2006/relationships/slideLayout" Target="/ppt/slideLayouts/slideLayout1.xml" Id="R72037673c98242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037673c98242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55b5e8c4284cbe" /><Relationship Type="http://schemas.openxmlformats.org/officeDocument/2006/relationships/image" Target="/ppt/media/image.png" Id="R4abc7889767942dd" /><Relationship Type="http://schemas.openxmlformats.org/officeDocument/2006/relationships/image" Target="/ppt/media/image2.png" Id="R5a843d9cadc546be" /><Relationship Type="http://schemas.openxmlformats.org/officeDocument/2006/relationships/notesSlide" Target="/ppt/notesSlides/notesSlide1.xml" Id="R635fdd39f8a441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cc925092304121" /><Relationship Type="http://schemas.openxmlformats.org/officeDocument/2006/relationships/image" Target="/ppt/media/image3.png" Id="R5ba36f25fb9942ba" /><Relationship Type="http://schemas.openxmlformats.org/officeDocument/2006/relationships/image" Target="/ppt/media/image4.png" Id="Rbb565407897f4514" /><Relationship Type="http://schemas.openxmlformats.org/officeDocument/2006/relationships/notesSlide" Target="/ppt/notesSlides/notesSlide2.xml" Id="R386cf900912649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979c7d628f4eed" /><Relationship Type="http://schemas.openxmlformats.org/officeDocument/2006/relationships/image" Target="/ppt/media/image5.png" Id="R1036c490ae14444d" /><Relationship Type="http://schemas.openxmlformats.org/officeDocument/2006/relationships/notesSlide" Target="/ppt/notesSlides/notesSlide3.xml" Id="R60ce9d556b2743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e789a8c4d148b0" /><Relationship Type="http://schemas.openxmlformats.org/officeDocument/2006/relationships/image" Target="/ppt/media/image6.png" Id="Ra590288e24794641" /><Relationship Type="http://schemas.openxmlformats.org/officeDocument/2006/relationships/image" Target="/ppt/media/image7.png" Id="R671b4c6c747c42dd" /><Relationship Type="http://schemas.openxmlformats.org/officeDocument/2006/relationships/notesSlide" Target="/ppt/notesSlides/notesSlide4.xml" Id="Rd375272a241846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24fa42a59542ba" /><Relationship Type="http://schemas.openxmlformats.org/officeDocument/2006/relationships/image" Target="/ppt/media/image8.png" Id="R481b5f90093a48b9" /><Relationship Type="http://schemas.openxmlformats.org/officeDocument/2006/relationships/notesSlide" Target="/ppt/notesSlides/notesSlide5.xml" Id="Rf646cec7978e4e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e528b645d44388" /><Relationship Type="http://schemas.openxmlformats.org/officeDocument/2006/relationships/image" Target="/ppt/media/image9.png" Id="R9a7ebadb44aa4195" /><Relationship Type="http://schemas.openxmlformats.org/officeDocument/2006/relationships/image" Target="/ppt/media/image.jpeg" Id="R0bbb8f5f24734062" /><Relationship Type="http://schemas.openxmlformats.org/officeDocument/2006/relationships/image" Target="/ppt/media/image2.jpeg" Id="R2a1a46dbf47a497e" /><Relationship Type="http://schemas.openxmlformats.org/officeDocument/2006/relationships/notesSlide" Target="/ppt/notesSlides/notesSlide6.xml" Id="R156f2d91518048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72a995e24b493f" /><Relationship Type="http://schemas.openxmlformats.org/officeDocument/2006/relationships/image" Target="/ppt/media/image10.png" Id="R9cf2cfbb779b4b29" /><Relationship Type="http://schemas.openxmlformats.org/officeDocument/2006/relationships/notesSlide" Target="/ppt/notesSlides/notesSlide7.xml" Id="R22b848dc21b14d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9c5af52cb84a90" /><Relationship Type="http://schemas.openxmlformats.org/officeDocument/2006/relationships/image" Target="/ppt/media/image11.png" Id="R025bf1da577948f2" /><Relationship Type="http://schemas.openxmlformats.org/officeDocument/2006/relationships/notesSlide" Target="/ppt/notesSlides/notesSlide8.xml" Id="R89fa9071a2bc4b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bfa6c6f4ad42e6" /><Relationship Type="http://schemas.openxmlformats.org/officeDocument/2006/relationships/image" Target="/ppt/media/image12.png" Id="R2383f8a7f5934fe0" /><Relationship Type="http://schemas.openxmlformats.org/officeDocument/2006/relationships/notesSlide" Target="/ppt/notesSlides/notesSlide9.xml" Id="R4a3e137b9d4e41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d5de809c2d49d8" /><Relationship Type="http://schemas.openxmlformats.org/officeDocument/2006/relationships/image" Target="/ppt/media/image13.png" Id="R93e3ef3d7ee34c4b" /><Relationship Type="http://schemas.openxmlformats.org/officeDocument/2006/relationships/notesSlide" Target="/ppt/notesSlides/notesSlide10.xml" Id="R5631447f01064b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f4ede2f7684d5e" /><Relationship Type="http://schemas.openxmlformats.org/officeDocument/2006/relationships/image" Target="/ppt/media/image14.png" Id="R5d7fd9b97eec4042" /><Relationship Type="http://schemas.openxmlformats.org/officeDocument/2006/relationships/image" Target="/ppt/media/image3.jpeg" Id="R7e10ea85d75a4249" /><Relationship Type="http://schemas.openxmlformats.org/officeDocument/2006/relationships/hyperlink" Target="https://x.com/endpx_" TargetMode="External" Id="Rede4d59866ec47d9" /><Relationship Type="http://schemas.openxmlformats.org/officeDocument/2006/relationships/notesSlide" Target="/ppt/notesSlides/notesSlide11.xml" Id="R557b7278fd614f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9ea5e83f1542ff" /><Relationship Type="http://schemas.openxmlformats.org/officeDocument/2006/relationships/image" Target="/ppt/media/image15.png" Id="R6988c76c49db44b2" /><Relationship Type="http://schemas.openxmlformats.org/officeDocument/2006/relationships/image" Target="/ppt/media/image16.png" Id="R2943b81c32c8476e" /><Relationship Type="http://schemas.openxmlformats.org/officeDocument/2006/relationships/image" Target="/ppt/media/image17.png" Id="R47a2ef822f3f47c7" /><Relationship Type="http://schemas.openxmlformats.org/officeDocument/2006/relationships/image" Target="/ppt/media/image18.png" Id="Rcfad8ee3faf447be" /><Relationship Type="http://schemas.openxmlformats.org/officeDocument/2006/relationships/hyperlink" Target="https://github.com/EndPx/commitpass" TargetMode="External" Id="R47b2cadc107049da" /><Relationship Type="http://schemas.openxmlformats.org/officeDocument/2006/relationships/hyperlink" Target="https://commitpass-event.vercel.app/" TargetMode="External" Id="R83706cef4391416d" /><Relationship Type="http://schemas.openxmlformats.org/officeDocument/2006/relationships/notesSlide" Target="/ppt/notesSlides/notesSlide12.xml" Id="R5e0dffbf6df94e62" /></Relationships>
</file>

<file path=ppt/slides/slide1.xml><?xml version="1.0" encoding="utf-8"?>
<p:sld xmlns:p="http://schemas.openxmlformats.org/presentationml/2006/main">
  <p:cSld>
    <p:bg>
      <p:bgPr>
        <a:solidFill xmlns:a="http://schemas.openxmlformats.org/drawingml/2006/main">
          <a:srgbClr val="272622"/>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4abc7889767942dd"/>
          <a:srcRect xmlns:a="http://schemas.openxmlformats.org/drawingml/2006/main" l="70000" t="0" r="0" b="58000"/>
          <a:stretch xmlns:a="http://schemas.openxmlformats.org/drawingml/2006/main"/>
        </p:blipFill>
        <p:spPr>
          <a:xfrm xmlns:a="http://schemas.openxmlformats.org/drawingml/2006/main">
            <a:off x="9810750" y="0"/>
            <a:ext cx="2381250" cy="1876234"/>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4abc7889767942dd"/>
          <a:srcRect xmlns:a="http://schemas.openxmlformats.org/drawingml/2006/main" l="0" t="55000" r="70000" b="0"/>
          <a:stretch xmlns:a="http://schemas.openxmlformats.org/drawingml/2006/main"/>
        </p:blipFill>
        <p:spPr>
          <a:xfrm xmlns:a="http://schemas.openxmlformats.org/drawingml/2006/main">
            <a:off x="0" y="5249799"/>
            <a:ext cx="1905000" cy="1608201"/>
          </a:xfrm>
          <a:prstGeom xmlns:a="http://schemas.openxmlformats.org/drawingml/2006/main" prst="rect">
            <a:avLst/>
          </a:prstGeom>
        </p:spPr>
      </p:pic>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a843d9cadc546be"/>
          <a:stretch xmlns:a="http://schemas.openxmlformats.org/drawingml/2006/main"/>
        </p:blipFill>
        <p:spPr>
          <a:xfrm xmlns:a="http://schemas.openxmlformats.org/drawingml/2006/main">
            <a:off x="4895850" y="1085850"/>
            <a:ext cx="2381250" cy="238125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B2B45DED-BAB3-4365-BBB1-4723FC34A60A}"/>
              </a:ext>
            </a:extLst>
          </p:cNvPr>
          <p:cNvSpPr>
            <a:spLocks xmlns:a="http://schemas.openxmlformats.org/drawingml/2006/main" noGrp="1"/>
          </p:cNvSpPr>
          <p:nvPr/>
        </p:nvSpPr>
        <p:spPr>
          <a:xfrm xmlns:a="http://schemas.openxmlformats.org/drawingml/2006/main">
            <a:off x="914400" y="3781425"/>
            <a:ext cx="10363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6825" b="1">
                <a:solidFill>
                  <a:srgbClr val="FFFFFF"/>
                </a:solidFill>
                <a:latin typeface="Arial"/>
                <a:ea typeface="Arial"/>
                <a:cs typeface="Arial"/>
              </a:defRPr>
            </a:pPr>
            <a:r>
              <a:rPr sz="6825" b="1">
                <a:solidFill>
                  <a:srgbClr val="FFFFFF"/>
                </a:solidFill>
                <a:latin typeface="Arial"/>
                <a:ea typeface="Arial"/>
                <a:cs typeface="Arial"/>
              </a:rPr>
              <a:t>CommitPass</a:t>
            </a:r>
          </a:p>
        </p:txBody>
      </p:sp>
    </p:spTree>
    <p:extLst>
      <p:ext uri="{BB962C8B-B14F-4D97-AF65-F5344CB8AC3E}">
        <p14:creationId xmlns:p14="http://schemas.microsoft.com/office/powerpoint/2010/main" val="12475345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ba36f25fb9942ba"/>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5ba36f25fb9942ba"/>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B1333B2D-7730-4F43-892B-31A0BE673A05}"/>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An RSVP leaves attendance uncertain</a:t>
            </a:r>
          </a:p>
        </p:txBody>
      </p:sp>
      <p:sp>
        <p:nvSpPr>
          <p:cNvPr id="3" name="Registration records interes">
            <a:extLst xmlns:a="http://schemas.openxmlformats.org/drawingml/2006/main">
              <a:ext uri="{FF2B5EF4-FFF2-40B4-BE49-F238E27FC236}">
                <a16:creationId xmlns:a16="http://schemas.microsoft.com/office/drawing/2014/main" id="{03362581-D180-423F-860F-DE199E981D29}"/>
              </a:ext>
            </a:extLst>
          </p:cNvPr>
          <p:cNvSpPr>
            <a:spLocks xmlns:a="http://schemas.openxmlformats.org/drawingml/2006/main" noGrp="1"/>
          </p:cNvSpPr>
          <p:nvPr/>
        </p:nvSpPr>
        <p:spPr>
          <a:xfrm xmlns:a="http://schemas.openxmlformats.org/drawingml/2006/main">
            <a:off x="609600" y="1781175"/>
            <a:ext cx="5095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72622"/>
                </a:solidFill>
                <a:latin typeface="Arial"/>
                <a:ea typeface="Arial"/>
                <a:cs typeface="Arial"/>
              </a:defRPr>
            </a:pPr>
            <a:r>
              <a:rPr sz="2550" b="1">
                <a:solidFill>
                  <a:srgbClr val="272622"/>
                </a:solidFill>
                <a:latin typeface="Arial"/>
                <a:ea typeface="Arial"/>
                <a:cs typeface="Arial"/>
              </a:rPr>
              <a:t>Registration records interest</a:t>
            </a:r>
          </a:p>
        </p:txBody>
      </p:sp>
      <p:sp>
        <p:nvSpPr>
          <p:cNvPr id="4" name="Guests can reserve a limited">
            <a:extLst xmlns:a="http://schemas.openxmlformats.org/drawingml/2006/main">
              <a:ext uri="{FF2B5EF4-FFF2-40B4-BE49-F238E27FC236}">
                <a16:creationId xmlns:a16="http://schemas.microsoft.com/office/drawing/2014/main" id="{2D2BAA30-A09F-4281-9002-A99D29415EF8}"/>
              </a:ext>
            </a:extLst>
          </p:cNvPr>
          <p:cNvSpPr>
            <a:spLocks xmlns:a="http://schemas.openxmlformats.org/drawingml/2006/main" noGrp="1"/>
          </p:cNvSpPr>
          <p:nvPr/>
        </p:nvSpPr>
        <p:spPr>
          <a:xfrm xmlns:a="http://schemas.openxmlformats.org/drawingml/2006/main">
            <a:off x="609600" y="2724150"/>
            <a:ext cx="5095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96B66"/>
                </a:solidFill>
                <a:latin typeface="Arial"/>
                <a:ea typeface="Arial"/>
                <a:cs typeface="Arial"/>
              </a:defRPr>
            </a:pPr>
            <a:r>
              <a:rPr sz="2025" b="0">
                <a:solidFill>
                  <a:srgbClr val="696B66"/>
                </a:solidFill>
                <a:latin typeface="Arial"/>
                <a:ea typeface="Arial"/>
                <a:cs typeface="Arial"/>
              </a:rPr>
              <a:t>Guests can reserve a limited seat</a:t>
            </a:r>
          </a:p>
          <a:p xmlns:a="http://schemas.openxmlformats.org/drawingml/2006/main">
            <a:pPr algn="l">
              <a:defRPr sz="2025" b="0">
                <a:solidFill>
                  <a:srgbClr val="696B66"/>
                </a:solidFill>
                <a:latin typeface="Arial"/>
                <a:ea typeface="Arial"/>
                <a:cs typeface="Arial"/>
              </a:defRPr>
            </a:pPr>
            <a:r>
              <a:rPr sz="2025" b="0">
                <a:solidFill>
                  <a:srgbClr val="696B66"/>
                </a:solidFill>
                <a:latin typeface="Arial"/>
                <a:ea typeface="Arial"/>
                <a:cs typeface="Arial"/>
              </a:rPr>
              <a:t>without a clear commitment to attend.</a:t>
            </a:r>
          </a:p>
        </p:txBody>
      </p:sp>
      <p:sp>
        <p:nvSpPr>
          <p:cNvPr id="5" name="Empty seats waste preparatio">
            <a:extLst xmlns:a="http://schemas.openxmlformats.org/drawingml/2006/main">
              <a:ext uri="{FF2B5EF4-FFF2-40B4-BE49-F238E27FC236}">
                <a16:creationId xmlns:a16="http://schemas.microsoft.com/office/drawing/2014/main" id="{F46CC044-4A0F-43DE-B573-1885F6830675}"/>
              </a:ext>
            </a:extLst>
          </p:cNvPr>
          <p:cNvSpPr>
            <a:spLocks xmlns:a="http://schemas.openxmlformats.org/drawingml/2006/main" noGrp="1"/>
          </p:cNvSpPr>
          <p:nvPr/>
        </p:nvSpPr>
        <p:spPr>
          <a:xfrm xmlns:a="http://schemas.openxmlformats.org/drawingml/2006/main">
            <a:off x="609600" y="4010025"/>
            <a:ext cx="5095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72622"/>
                </a:solidFill>
                <a:latin typeface="Arial"/>
                <a:ea typeface="Arial"/>
                <a:cs typeface="Arial"/>
              </a:defRPr>
            </a:pPr>
            <a:r>
              <a:rPr sz="2550" b="1">
                <a:solidFill>
                  <a:srgbClr val="272622"/>
                </a:solidFill>
                <a:latin typeface="Arial"/>
                <a:ea typeface="Arial"/>
                <a:cs typeface="Arial"/>
              </a:rPr>
              <a:t>Empty seats waste preparation</a:t>
            </a:r>
          </a:p>
        </p:txBody>
      </p:sp>
      <p:sp>
        <p:nvSpPr>
          <p:cNvPr id="6" name="Hosts prepare space and mate">
            <a:extLst xmlns:a="http://schemas.openxmlformats.org/drawingml/2006/main">
              <a:ext uri="{FF2B5EF4-FFF2-40B4-BE49-F238E27FC236}">
                <a16:creationId xmlns:a16="http://schemas.microsoft.com/office/drawing/2014/main" id="{448C120C-8F63-462A-9369-0E30F695BF34}"/>
              </a:ext>
            </a:extLst>
          </p:cNvPr>
          <p:cNvSpPr>
            <a:spLocks xmlns:a="http://schemas.openxmlformats.org/drawingml/2006/main" noGrp="1"/>
          </p:cNvSpPr>
          <p:nvPr/>
        </p:nvSpPr>
        <p:spPr>
          <a:xfrm xmlns:a="http://schemas.openxmlformats.org/drawingml/2006/main">
            <a:off x="609600" y="4981575"/>
            <a:ext cx="5095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96B66"/>
                </a:solidFill>
                <a:latin typeface="Arial"/>
                <a:ea typeface="Arial"/>
                <a:cs typeface="Arial"/>
              </a:defRPr>
            </a:pPr>
            <a:r>
              <a:rPr sz="2025" b="0">
                <a:solidFill>
                  <a:srgbClr val="696B66"/>
                </a:solidFill>
                <a:latin typeface="Arial"/>
                <a:ea typeface="Arial"/>
                <a:cs typeface="Arial"/>
              </a:rPr>
              <a:t>Hosts prepare space and materials.</a:t>
            </a:r>
          </a:p>
          <a:p xmlns:a="http://schemas.openxmlformats.org/drawingml/2006/main">
            <a:pPr algn="l">
              <a:defRPr sz="2025" b="0">
                <a:solidFill>
                  <a:srgbClr val="696B66"/>
                </a:solidFill>
                <a:latin typeface="Arial"/>
                <a:ea typeface="Arial"/>
                <a:cs typeface="Arial"/>
              </a:defRPr>
            </a:pPr>
            <a:r>
              <a:rPr sz="2025" b="0">
                <a:solidFill>
                  <a:srgbClr val="696B66"/>
                </a:solidFill>
                <a:latin typeface="Arial"/>
                <a:ea typeface="Arial"/>
                <a:cs typeface="Arial"/>
              </a:rPr>
              <a:t>Other interested guests lose a place.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565407897f4514"/>
          <a:stretch xmlns:a="http://schemas.openxmlformats.org/drawingml/2006/main"/>
        </p:blipFill>
        <p:spPr>
          <a:xfrm xmlns:a="http://schemas.openxmlformats.org/drawingml/2006/main">
            <a:off x="6219825" y="2186674"/>
            <a:ext cx="5362575" cy="3018052"/>
          </a:xfrm>
          <a:prstGeom xmlns:a="http://schemas.openxmlformats.org/drawingml/2006/main" prst="rect">
            <a:avLst/>
          </a:prstGeom>
        </p:spPr>
      </p:pic>
      <p:sp>
        <p:nvSpPr>
          <p:cNvPr id="8" name="Venue illustration: KNVI Lab">
            <a:extLst xmlns:a="http://schemas.openxmlformats.org/drawingml/2006/main">
              <a:ext uri="{FF2B5EF4-FFF2-40B4-BE49-F238E27FC236}">
                <a16:creationId xmlns:a16="http://schemas.microsoft.com/office/drawing/2014/main" id="{E0E8A446-371B-402E-A6F6-17970A5D24A4}"/>
              </a:ext>
            </a:extLst>
          </p:cNvPr>
          <p:cNvSpPr>
            <a:spLocks xmlns:a="http://schemas.openxmlformats.org/drawingml/2006/main" noGrp="1"/>
          </p:cNvSpPr>
          <p:nvPr/>
        </p:nvSpPr>
        <p:spPr>
          <a:xfrm xmlns:a="http://schemas.openxmlformats.org/drawingml/2006/main">
            <a:off x="6257925" y="5438775"/>
            <a:ext cx="528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96B66"/>
                </a:solidFill>
                <a:latin typeface="Arial"/>
                <a:ea typeface="Arial"/>
                <a:cs typeface="Arial"/>
              </a:defRPr>
            </a:pPr>
            <a:r>
              <a:rPr sz="1350" b="0">
                <a:solidFill>
                  <a:srgbClr val="696B66"/>
                </a:solidFill>
                <a:latin typeface="Arial"/>
                <a:ea typeface="Arial"/>
                <a:cs typeface="Arial"/>
              </a:rPr>
              <a:t>Venue illustration: KNVI Labs</a:t>
            </a:r>
          </a:p>
        </p:txBody>
      </p:sp>
    </p:spTree>
    <p:extLst>
      <p:ext uri="{BB962C8B-B14F-4D97-AF65-F5344CB8AC3E}">
        <p14:creationId xmlns:p14="http://schemas.microsoft.com/office/powerpoint/2010/main" val="6819837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036c490ae14444d"/>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1036c490ae14444d"/>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24A7D6A9-8B1F-421B-A8A1-5A2275D90DBC}"/>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The no-show problem is bigger</a:t>
            </a:r>
          </a:p>
        </p:txBody>
      </p:sp>
      <p:sp>
        <p:nvSpPr>
          <p:cNvPr id="3" name="Free in-person events">
            <a:extLst xmlns:a="http://schemas.openxmlformats.org/drawingml/2006/main">
              <a:ext uri="{FF2B5EF4-FFF2-40B4-BE49-F238E27FC236}">
                <a16:creationId xmlns:a16="http://schemas.microsoft.com/office/drawing/2014/main" id="{D8D6F210-FCE0-4944-B8EE-954D5125C843}"/>
              </a:ext>
            </a:extLst>
          </p:cNvPr>
          <p:cNvSpPr>
            <a:spLocks xmlns:a="http://schemas.openxmlformats.org/drawingml/2006/main" noGrp="1"/>
          </p:cNvSpPr>
          <p:nvPr/>
        </p:nvSpPr>
        <p:spPr>
          <a:xfrm xmlns:a="http://schemas.openxmlformats.org/drawingml/2006/main">
            <a:off x="609600" y="1809750"/>
            <a:ext cx="714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696B66"/>
                </a:solidFill>
                <a:latin typeface="Arial"/>
                <a:ea typeface="Arial"/>
                <a:cs typeface="Arial"/>
              </a:defRPr>
            </a:pPr>
            <a:r>
              <a:rPr sz="2250" b="0">
                <a:solidFill>
                  <a:srgbClr val="696B66"/>
                </a:solidFill>
                <a:latin typeface="Arial"/>
                <a:ea typeface="Arial"/>
                <a:cs typeface="Arial"/>
              </a:rPr>
              <a:t>Free in-person events</a:t>
            </a:r>
          </a:p>
        </p:txBody>
      </p:sp>
      <p:sp>
        <p:nvSpPr>
          <p:cNvPr id="4" name="40–60%">
            <a:extLst xmlns:a="http://schemas.openxmlformats.org/drawingml/2006/main">
              <a:ext uri="{FF2B5EF4-FFF2-40B4-BE49-F238E27FC236}">
                <a16:creationId xmlns:a16="http://schemas.microsoft.com/office/drawing/2014/main" id="{4B1646C7-9FCB-4044-A88A-948D48C8A2B0}"/>
              </a:ext>
            </a:extLst>
          </p:cNvPr>
          <p:cNvSpPr>
            <a:spLocks xmlns:a="http://schemas.openxmlformats.org/drawingml/2006/main" noGrp="1"/>
          </p:cNvSpPr>
          <p:nvPr/>
        </p:nvSpPr>
        <p:spPr>
          <a:xfrm xmlns:a="http://schemas.openxmlformats.org/drawingml/2006/main">
            <a:off x="609600" y="2457450"/>
            <a:ext cx="6953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150" b="1">
                <a:solidFill>
                  <a:srgbClr val="B9462D"/>
                </a:solidFill>
                <a:latin typeface="Arial"/>
                <a:ea typeface="Arial"/>
                <a:cs typeface="Arial"/>
              </a:defRPr>
            </a:pPr>
            <a:r>
              <a:rPr sz="9150" b="1">
                <a:solidFill>
                  <a:srgbClr val="B9462D"/>
                </a:solidFill>
                <a:latin typeface="Arial"/>
                <a:ea typeface="Arial"/>
                <a:cs typeface="Arial"/>
              </a:rPr>
              <a:t>40–60%</a:t>
            </a:r>
          </a:p>
        </p:txBody>
      </p:sp>
      <p:sp>
        <p:nvSpPr>
          <p:cNvPr id="5" name="reported no-show range">
            <a:extLst xmlns:a="http://schemas.openxmlformats.org/drawingml/2006/main">
              <a:ext uri="{FF2B5EF4-FFF2-40B4-BE49-F238E27FC236}">
                <a16:creationId xmlns:a16="http://schemas.microsoft.com/office/drawing/2014/main" id="{2DC29849-1C21-4947-9864-E78BF350D957}"/>
              </a:ext>
            </a:extLst>
          </p:cNvPr>
          <p:cNvSpPr>
            <a:spLocks xmlns:a="http://schemas.openxmlformats.org/drawingml/2006/main" noGrp="1"/>
          </p:cNvSpPr>
          <p:nvPr/>
        </p:nvSpPr>
        <p:spPr>
          <a:xfrm xmlns:a="http://schemas.openxmlformats.org/drawingml/2006/main">
            <a:off x="638175" y="4048125"/>
            <a:ext cx="709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96B66"/>
                </a:solidFill>
                <a:latin typeface="Arial"/>
                <a:ea typeface="Arial"/>
                <a:cs typeface="Arial"/>
              </a:defRPr>
            </a:pPr>
            <a:r>
              <a:rPr sz="2100" b="0">
                <a:solidFill>
                  <a:srgbClr val="696B66"/>
                </a:solidFill>
                <a:latin typeface="Arial"/>
                <a:ea typeface="Arial"/>
                <a:cs typeface="Arial"/>
              </a:rPr>
              <a:t>reported no-show range</a:t>
            </a:r>
          </a:p>
        </p:txBody>
      </p:sp>
      <p:sp>
        <p:nvSpPr>
          <p:cNvPr id="6" name="How can we turn a reservatio">
            <a:extLst xmlns:a="http://schemas.openxmlformats.org/drawingml/2006/main">
              <a:ext uri="{FF2B5EF4-FFF2-40B4-BE49-F238E27FC236}">
                <a16:creationId xmlns:a16="http://schemas.microsoft.com/office/drawing/2014/main" id="{F0122CA4-5FBD-4FDC-9C1E-4518922DFF7C}"/>
              </a:ext>
            </a:extLst>
          </p:cNvPr>
          <p:cNvSpPr>
            <a:spLocks xmlns:a="http://schemas.openxmlformats.org/drawingml/2006/main" noGrp="1"/>
          </p:cNvSpPr>
          <p:nvPr/>
        </p:nvSpPr>
        <p:spPr>
          <a:xfrm xmlns:a="http://schemas.openxmlformats.org/drawingml/2006/main">
            <a:off x="609600" y="4962525"/>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272622"/>
                </a:solidFill>
                <a:latin typeface="Arial"/>
                <a:ea typeface="Arial"/>
                <a:cs typeface="Arial"/>
              </a:defRPr>
            </a:pPr>
            <a:r>
              <a:rPr sz="3225" b="1">
                <a:solidFill>
                  <a:srgbClr val="272622"/>
                </a:solidFill>
                <a:latin typeface="Arial"/>
                <a:ea typeface="Arial"/>
                <a:cs typeface="Arial"/>
              </a:rPr>
              <a:t>How can we turn a reservation</a:t>
            </a:r>
          </a:p>
          <a:p xmlns:a="http://schemas.openxmlformats.org/drawingml/2006/main">
            <a:pPr algn="l">
              <a:defRPr sz="3225" b="1">
                <a:solidFill>
                  <a:srgbClr val="272622"/>
                </a:solidFill>
                <a:latin typeface="Arial"/>
                <a:ea typeface="Arial"/>
                <a:cs typeface="Arial"/>
              </a:defRPr>
            </a:pPr>
            <a:r>
              <a:rPr sz="3225" b="1">
                <a:solidFill>
                  <a:srgbClr val="272622"/>
                </a:solidFill>
                <a:latin typeface="Arial"/>
                <a:ea typeface="Arial"/>
                <a:cs typeface="Arial"/>
              </a:rPr>
              <a:t>into a real commitment?</a:t>
            </a:r>
          </a:p>
        </p:txBody>
      </p:sp>
      <p:sp>
        <p:nvSpPr>
          <p:cNvPr id="7" name="Source: KNVI Labs">
            <a:extLst xmlns:a="http://schemas.openxmlformats.org/drawingml/2006/main">
              <a:ext uri="{FF2B5EF4-FFF2-40B4-BE49-F238E27FC236}">
                <a16:creationId xmlns:a16="http://schemas.microsoft.com/office/drawing/2014/main" id="{223E360E-FB98-46E8-9FDC-076723EAD2B7}"/>
              </a:ext>
            </a:extLst>
          </p:cNvPr>
          <p:cNvSpPr>
            <a:spLocks xmlns:a="http://schemas.openxmlformats.org/drawingml/2006/main" noGrp="1"/>
          </p:cNvSpPr>
          <p:nvPr/>
        </p:nvSpPr>
        <p:spPr>
          <a:xfrm xmlns:a="http://schemas.openxmlformats.org/drawingml/2006/main">
            <a:off x="609600" y="62960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96B66"/>
                </a:solidFill>
                <a:latin typeface="Arial"/>
                <a:ea typeface="Arial"/>
                <a:cs typeface="Arial"/>
              </a:defRPr>
            </a:pPr>
            <a:r>
              <a:rPr sz="1350" b="0">
                <a:solidFill>
                  <a:srgbClr val="696B66"/>
                </a:solidFill>
                <a:latin typeface="Arial"/>
                <a:ea typeface="Arial"/>
                <a:cs typeface="Arial"/>
              </a:rPr>
              <a:t>Source: KNVI Labs</a:t>
            </a:r>
          </a:p>
        </p:txBody>
      </p:sp>
    </p:spTree>
    <p:extLst>
      <p:ext uri="{BB962C8B-B14F-4D97-AF65-F5344CB8AC3E}">
        <p14:creationId xmlns:p14="http://schemas.microsoft.com/office/powerpoint/2010/main" val="18617218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590288e24794641"/>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a590288e24794641"/>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1b4c6c747c42dd"/>
          <a:stretch xmlns:a="http://schemas.openxmlformats.org/drawingml/2006/main"/>
        </p:blipFill>
        <p:spPr>
          <a:xfrm xmlns:a="http://schemas.openxmlformats.org/drawingml/2006/main">
            <a:off x="542925" y="647700"/>
            <a:ext cx="876300" cy="8763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B5F508DE-0A1B-4C51-B756-5D83145BE59E}"/>
              </a:ext>
            </a:extLst>
          </p:cNvPr>
          <p:cNvSpPr>
            <a:spLocks xmlns:a="http://schemas.openxmlformats.org/drawingml/2006/main" noGrp="1"/>
          </p:cNvSpPr>
          <p:nvPr/>
        </p:nvSpPr>
        <p:spPr>
          <a:xfrm xmlns:a="http://schemas.openxmlformats.org/drawingml/2006/main">
            <a:off x="1514475" y="781050"/>
            <a:ext cx="98869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000" b="1">
                <a:solidFill>
                  <a:srgbClr val="272622"/>
                </a:solidFill>
                <a:latin typeface="Arial"/>
                <a:ea typeface="Arial"/>
                <a:cs typeface="Arial"/>
              </a:defRPr>
            </a:pPr>
            <a:r>
              <a:rPr sz="6000" b="1">
                <a:solidFill>
                  <a:srgbClr val="272622"/>
                </a:solidFill>
                <a:latin typeface="Arial"/>
                <a:ea typeface="Arial"/>
                <a:cs typeface="Arial"/>
              </a:rPr>
              <a:t>CommitPass</a:t>
            </a:r>
          </a:p>
        </p:txBody>
      </p:sp>
      <p:sp>
        <p:nvSpPr>
          <p:cNvPr id="4" name="Onchain commitments&#10;for even">
            <a:extLst xmlns:a="http://schemas.openxmlformats.org/drawingml/2006/main">
              <a:ext uri="{FF2B5EF4-FFF2-40B4-BE49-F238E27FC236}">
                <a16:creationId xmlns:a16="http://schemas.microsoft.com/office/drawing/2014/main" id="{9E8DF585-062C-4266-8477-1711E6336ECA}"/>
              </a:ext>
            </a:extLst>
          </p:cNvPr>
          <p:cNvSpPr>
            <a:spLocks xmlns:a="http://schemas.openxmlformats.org/drawingml/2006/main" noGrp="1"/>
          </p:cNvSpPr>
          <p:nvPr/>
        </p:nvSpPr>
        <p:spPr>
          <a:xfrm xmlns:a="http://schemas.openxmlformats.org/drawingml/2006/main">
            <a:off x="609600" y="2219325"/>
            <a:ext cx="5619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315C45"/>
                </a:solidFill>
                <a:latin typeface="Arial"/>
                <a:ea typeface="Arial"/>
                <a:cs typeface="Arial"/>
              </a:defRPr>
            </a:pPr>
            <a:r>
              <a:rPr sz="3525" b="1">
                <a:solidFill>
                  <a:srgbClr val="315C45"/>
                </a:solidFill>
                <a:latin typeface="Arial"/>
                <a:ea typeface="Arial"/>
                <a:cs typeface="Arial"/>
              </a:rPr>
              <a:t>Onchain commitments</a:t>
            </a:r>
          </a:p>
          <a:p xmlns:a="http://schemas.openxmlformats.org/drawingml/2006/main">
            <a:pPr algn="l">
              <a:defRPr sz="3525" b="1">
                <a:solidFill>
                  <a:srgbClr val="315C45"/>
                </a:solidFill>
                <a:latin typeface="Arial"/>
                <a:ea typeface="Arial"/>
                <a:cs typeface="Arial"/>
              </a:defRPr>
            </a:pPr>
            <a:r>
              <a:rPr sz="3525" b="1">
                <a:solidFill>
                  <a:srgbClr val="315C45"/>
                </a:solidFill>
                <a:latin typeface="Arial"/>
                <a:ea typeface="Arial"/>
                <a:cs typeface="Arial"/>
              </a:rPr>
              <a:t>for events</a:t>
            </a:r>
          </a:p>
        </p:txBody>
      </p:sp>
      <p:sp>
        <p:nvSpPr>
          <p:cNvPr id="5" name="Reserve with USDC.&#10;Show up. ">
            <a:extLst xmlns:a="http://schemas.openxmlformats.org/drawingml/2006/main">
              <a:ext uri="{FF2B5EF4-FFF2-40B4-BE49-F238E27FC236}">
                <a16:creationId xmlns:a16="http://schemas.microsoft.com/office/drawing/2014/main" id="{7F5D4185-C290-4469-877C-C8F47E9C5B05}"/>
              </a:ext>
            </a:extLst>
          </p:cNvPr>
          <p:cNvSpPr>
            <a:spLocks xmlns:a="http://schemas.openxmlformats.org/drawingml/2006/main" noGrp="1"/>
          </p:cNvSpPr>
          <p:nvPr/>
        </p:nvSpPr>
        <p:spPr>
          <a:xfrm xmlns:a="http://schemas.openxmlformats.org/drawingml/2006/main">
            <a:off x="609600" y="4124325"/>
            <a:ext cx="5619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72622"/>
                </a:solidFill>
                <a:latin typeface="Arial"/>
                <a:ea typeface="Arial"/>
                <a:cs typeface="Arial"/>
              </a:defRPr>
            </a:pPr>
            <a:r>
              <a:rPr sz="2400" b="1">
                <a:solidFill>
                  <a:srgbClr val="272622"/>
                </a:solidFill>
                <a:latin typeface="Arial"/>
                <a:ea typeface="Arial"/>
                <a:cs typeface="Arial"/>
              </a:rPr>
              <a:t>Reserve with USDC.</a:t>
            </a:r>
          </a:p>
          <a:p xmlns:a="http://schemas.openxmlformats.org/drawingml/2006/main">
            <a:pPr algn="l">
              <a:defRPr sz="2400" b="1">
                <a:solidFill>
                  <a:srgbClr val="272622"/>
                </a:solidFill>
                <a:latin typeface="Arial"/>
                <a:ea typeface="Arial"/>
                <a:cs typeface="Arial"/>
              </a:defRPr>
            </a:pPr>
            <a:r>
              <a:rPr sz="2400" b="1">
                <a:solidFill>
                  <a:srgbClr val="272622"/>
                </a:solidFill>
                <a:latin typeface="Arial"/>
                <a:ea typeface="Arial"/>
                <a:cs typeface="Arial"/>
              </a:rPr>
              <a:t>Show up. Claim after settlement.</a:t>
            </a:r>
          </a:p>
        </p:txBody>
      </p:sp>
      <p:sp>
        <p:nvSpPr>
          <p:cNvPr id="6" name="For workshops and community ">
            <a:extLst xmlns:a="http://schemas.openxmlformats.org/drawingml/2006/main">
              <a:ext uri="{FF2B5EF4-FFF2-40B4-BE49-F238E27FC236}">
                <a16:creationId xmlns:a16="http://schemas.microsoft.com/office/drawing/2014/main" id="{9DD382DE-CCDC-4098-959F-526AC4119F57}"/>
              </a:ext>
            </a:extLst>
          </p:cNvPr>
          <p:cNvSpPr>
            <a:spLocks xmlns:a="http://schemas.openxmlformats.org/drawingml/2006/main" noGrp="1"/>
          </p:cNvSpPr>
          <p:nvPr/>
        </p:nvSpPr>
        <p:spPr>
          <a:xfrm xmlns:a="http://schemas.openxmlformats.org/drawingml/2006/main">
            <a:off x="609600" y="54197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96B66"/>
                </a:solidFill>
                <a:latin typeface="Arial"/>
                <a:ea typeface="Arial"/>
                <a:cs typeface="Arial"/>
              </a:defRPr>
            </a:pPr>
            <a:r>
              <a:rPr sz="1800" b="0">
                <a:solidFill>
                  <a:srgbClr val="696B66"/>
                </a:solidFill>
                <a:latin typeface="Arial"/>
                <a:ea typeface="Arial"/>
                <a:cs typeface="Arial"/>
              </a:rPr>
              <a:t>For workshops and community meetups</a:t>
            </a:r>
          </a:p>
          <a:p xmlns:a="http://schemas.openxmlformats.org/drawingml/2006/main">
            <a:pPr algn="l">
              <a:defRPr sz="1800" b="0">
                <a:solidFill>
                  <a:srgbClr val="696B66"/>
                </a:solidFill>
                <a:latin typeface="Arial"/>
                <a:ea typeface="Arial"/>
                <a:cs typeface="Arial"/>
              </a:defRPr>
            </a:pPr>
            <a:r>
              <a:rPr sz="1800" b="0">
                <a:solidFill>
                  <a:srgbClr val="696B66"/>
                </a:solidFill>
                <a:latin typeface="Arial"/>
                <a:ea typeface="Arial"/>
                <a:cs typeface="Arial"/>
              </a:rPr>
              <a:t>with limited capacity.</a:t>
            </a:r>
          </a:p>
        </p:txBody>
      </p:sp>
      <p:sp>
        <p:nvSpPr>
          <p:cNvPr id="7" name="A refundable reason to show ">
            <a:extLst xmlns:a="http://schemas.openxmlformats.org/drawingml/2006/main">
              <a:ext uri="{FF2B5EF4-FFF2-40B4-BE49-F238E27FC236}">
                <a16:creationId xmlns:a16="http://schemas.microsoft.com/office/drawing/2014/main" id="{9E4867D6-CB92-491B-8B42-B62FCD8B8A3A}"/>
              </a:ext>
            </a:extLst>
          </p:cNvPr>
          <p:cNvSpPr>
            <a:spLocks xmlns:a="http://schemas.openxmlformats.org/drawingml/2006/main" noGrp="1"/>
          </p:cNvSpPr>
          <p:nvPr/>
        </p:nvSpPr>
        <p:spPr>
          <a:xfrm xmlns:a="http://schemas.openxmlformats.org/drawingml/2006/main">
            <a:off x="6705600" y="2085975"/>
            <a:ext cx="4876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B9462D"/>
                </a:solidFill>
                <a:latin typeface="Arial"/>
                <a:ea typeface="Arial"/>
                <a:cs typeface="Arial"/>
              </a:defRPr>
            </a:pPr>
            <a:r>
              <a:rPr sz="2025" b="1">
                <a:solidFill>
                  <a:srgbClr val="B9462D"/>
                </a:solidFill>
                <a:latin typeface="Arial"/>
                <a:ea typeface="Arial"/>
                <a:cs typeface="Arial"/>
              </a:rPr>
              <a:t>A refundable reason to show up</a:t>
            </a:r>
          </a:p>
        </p:txBody>
      </p:sp>
      <p:sp>
        <p:nvSpPr>
          <p:cNvPr id="8" name="$3–$25">
            <a:extLst xmlns:a="http://schemas.openxmlformats.org/drawingml/2006/main">
              <a:ext uri="{FF2B5EF4-FFF2-40B4-BE49-F238E27FC236}">
                <a16:creationId xmlns:a16="http://schemas.microsoft.com/office/drawing/2014/main" id="{8DDC27F1-B2B2-434C-94EE-6F39195F7B62}"/>
              </a:ext>
            </a:extLst>
          </p:cNvPr>
          <p:cNvSpPr>
            <a:spLocks xmlns:a="http://schemas.openxmlformats.org/drawingml/2006/main" noGrp="1"/>
          </p:cNvSpPr>
          <p:nvPr/>
        </p:nvSpPr>
        <p:spPr>
          <a:xfrm xmlns:a="http://schemas.openxmlformats.org/drawingml/2006/main">
            <a:off x="6705600" y="2952750"/>
            <a:ext cx="2266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B9462D"/>
                </a:solidFill>
                <a:latin typeface="Arial"/>
                <a:ea typeface="Arial"/>
                <a:cs typeface="Arial"/>
              </a:defRPr>
            </a:pPr>
            <a:r>
              <a:rPr sz="4650" b="1">
                <a:solidFill>
                  <a:srgbClr val="B9462D"/>
                </a:solidFill>
                <a:latin typeface="Arial"/>
                <a:ea typeface="Arial"/>
                <a:cs typeface="Arial"/>
              </a:rPr>
              <a:t>$3–$25</a:t>
            </a:r>
          </a:p>
        </p:txBody>
      </p:sp>
      <p:sp>
        <p:nvSpPr>
          <p:cNvPr id="9" name="14–25%">
            <a:extLst xmlns:a="http://schemas.openxmlformats.org/drawingml/2006/main">
              <a:ext uri="{FF2B5EF4-FFF2-40B4-BE49-F238E27FC236}">
                <a16:creationId xmlns:a16="http://schemas.microsoft.com/office/drawing/2014/main" id="{B951537B-3BE7-4634-92EE-EC28B83B3643}"/>
              </a:ext>
            </a:extLst>
          </p:cNvPr>
          <p:cNvSpPr>
            <a:spLocks xmlns:a="http://schemas.openxmlformats.org/drawingml/2006/main" noGrp="1"/>
          </p:cNvSpPr>
          <p:nvPr/>
        </p:nvSpPr>
        <p:spPr>
          <a:xfrm xmlns:a="http://schemas.openxmlformats.org/drawingml/2006/main">
            <a:off x="9315450" y="2952750"/>
            <a:ext cx="2266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315C45"/>
                </a:solidFill>
                <a:latin typeface="Arial"/>
                <a:ea typeface="Arial"/>
                <a:cs typeface="Arial"/>
              </a:defRPr>
            </a:pPr>
            <a:r>
              <a:rPr sz="4650" b="1">
                <a:solidFill>
                  <a:srgbClr val="315C45"/>
                </a:solidFill>
                <a:latin typeface="Arial"/>
                <a:ea typeface="Arial"/>
                <a:cs typeface="Arial"/>
              </a:rPr>
              <a:t>14–25%</a:t>
            </a:r>
          </a:p>
        </p:txBody>
      </p:sp>
      <p:sp>
        <p:nvSpPr>
          <p:cNvPr id="10" name="refundable&#10;deposit">
            <a:extLst xmlns:a="http://schemas.openxmlformats.org/drawingml/2006/main">
              <a:ext uri="{FF2B5EF4-FFF2-40B4-BE49-F238E27FC236}">
                <a16:creationId xmlns:a16="http://schemas.microsoft.com/office/drawing/2014/main" id="{967F8D8C-BBA2-4A38-9A2B-DAADC868547E}"/>
              </a:ext>
            </a:extLst>
          </p:cNvPr>
          <p:cNvSpPr>
            <a:spLocks xmlns:a="http://schemas.openxmlformats.org/drawingml/2006/main" noGrp="1"/>
          </p:cNvSpPr>
          <p:nvPr/>
        </p:nvSpPr>
        <p:spPr>
          <a:xfrm xmlns:a="http://schemas.openxmlformats.org/drawingml/2006/main">
            <a:off x="6734175" y="3905250"/>
            <a:ext cx="223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96B66"/>
                </a:solidFill>
                <a:latin typeface="Arial"/>
                <a:ea typeface="Arial"/>
                <a:cs typeface="Arial"/>
              </a:defRPr>
            </a:pPr>
            <a:r>
              <a:rPr sz="1875" b="0">
                <a:solidFill>
                  <a:srgbClr val="696B66"/>
                </a:solidFill>
                <a:latin typeface="Arial"/>
                <a:ea typeface="Arial"/>
                <a:cs typeface="Arial"/>
              </a:rPr>
              <a:t>refundable</a:t>
            </a:r>
          </a:p>
          <a:p xmlns:a="http://schemas.openxmlformats.org/drawingml/2006/main">
            <a:pPr algn="l">
              <a:defRPr sz="1875" b="0">
                <a:solidFill>
                  <a:srgbClr val="696B66"/>
                </a:solidFill>
                <a:latin typeface="Arial"/>
                <a:ea typeface="Arial"/>
                <a:cs typeface="Arial"/>
              </a:defRPr>
            </a:pPr>
            <a:r>
              <a:rPr sz="1875" b="0">
                <a:solidFill>
                  <a:srgbClr val="696B66"/>
                </a:solidFill>
                <a:latin typeface="Arial"/>
                <a:ea typeface="Arial"/>
                <a:cs typeface="Arial"/>
              </a:rPr>
              <a:t>deposit</a:t>
            </a:r>
          </a:p>
        </p:txBody>
      </p:sp>
      <p:sp>
        <p:nvSpPr>
          <p:cNvPr id="11" name="reported&#10;no-show range">
            <a:extLst xmlns:a="http://schemas.openxmlformats.org/drawingml/2006/main">
              <a:ext uri="{FF2B5EF4-FFF2-40B4-BE49-F238E27FC236}">
                <a16:creationId xmlns:a16="http://schemas.microsoft.com/office/drawing/2014/main" id="{93BCB036-0B40-4891-977C-AFC69583D611}"/>
              </a:ext>
            </a:extLst>
          </p:cNvPr>
          <p:cNvSpPr>
            <a:spLocks xmlns:a="http://schemas.openxmlformats.org/drawingml/2006/main" noGrp="1"/>
          </p:cNvSpPr>
          <p:nvPr/>
        </p:nvSpPr>
        <p:spPr>
          <a:xfrm xmlns:a="http://schemas.openxmlformats.org/drawingml/2006/main">
            <a:off x="9344025" y="3905250"/>
            <a:ext cx="223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96B66"/>
                </a:solidFill>
                <a:latin typeface="Arial"/>
                <a:ea typeface="Arial"/>
                <a:cs typeface="Arial"/>
              </a:defRPr>
            </a:pPr>
            <a:r>
              <a:rPr sz="1875" b="0">
                <a:solidFill>
                  <a:srgbClr val="696B66"/>
                </a:solidFill>
                <a:latin typeface="Arial"/>
                <a:ea typeface="Arial"/>
                <a:cs typeface="Arial"/>
              </a:rPr>
              <a:t>reported</a:t>
            </a:r>
          </a:p>
          <a:p xmlns:a="http://schemas.openxmlformats.org/drawingml/2006/main">
            <a:pPr algn="l">
              <a:defRPr sz="1875" b="0">
                <a:solidFill>
                  <a:srgbClr val="696B66"/>
                </a:solidFill>
                <a:latin typeface="Arial"/>
                <a:ea typeface="Arial"/>
                <a:cs typeface="Arial"/>
              </a:defRPr>
            </a:pPr>
            <a:r>
              <a:rPr sz="1875" b="0">
                <a:solidFill>
                  <a:srgbClr val="696B66"/>
                </a:solidFill>
                <a:latin typeface="Arial"/>
                <a:ea typeface="Arial"/>
                <a:cs typeface="Arial"/>
              </a:rPr>
              <a:t>no-show range</a:t>
            </a:r>
          </a:p>
        </p:txBody>
      </p:sp>
      <p:sp>
        <p:nvSpPr>
          <p:cNvPr id="12" name="A small deposit gives people">
            <a:extLst xmlns:a="http://schemas.openxmlformats.org/drawingml/2006/main">
              <a:ext uri="{FF2B5EF4-FFF2-40B4-BE49-F238E27FC236}">
                <a16:creationId xmlns:a16="http://schemas.microsoft.com/office/drawing/2014/main" id="{849B0A85-9C93-4B40-9EE2-97F4AE3B517F}"/>
              </a:ext>
            </a:extLst>
          </p:cNvPr>
          <p:cNvSpPr>
            <a:spLocks xmlns:a="http://schemas.openxmlformats.org/drawingml/2006/main" noGrp="1"/>
          </p:cNvSpPr>
          <p:nvPr/>
        </p:nvSpPr>
        <p:spPr>
          <a:xfrm xmlns:a="http://schemas.openxmlformats.org/drawingml/2006/main">
            <a:off x="6705600" y="495300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72622"/>
                </a:solidFill>
                <a:latin typeface="Arial"/>
                <a:ea typeface="Arial"/>
                <a:cs typeface="Arial"/>
              </a:defRPr>
            </a:pPr>
            <a:r>
              <a:rPr sz="2100" b="1">
                <a:solidFill>
                  <a:srgbClr val="272622"/>
                </a:solidFill>
                <a:latin typeface="Arial"/>
                <a:ea typeface="Arial"/>
                <a:cs typeface="Arial"/>
              </a:rPr>
              <a:t>A small deposit gives people</a:t>
            </a:r>
          </a:p>
          <a:p xmlns:a="http://schemas.openxmlformats.org/drawingml/2006/main">
            <a:pPr algn="l">
              <a:defRPr sz="2100" b="1">
                <a:solidFill>
                  <a:srgbClr val="272622"/>
                </a:solidFill>
                <a:latin typeface="Arial"/>
                <a:ea typeface="Arial"/>
                <a:cs typeface="Arial"/>
              </a:defRPr>
            </a:pPr>
            <a:r>
              <a:rPr sz="2100" b="1">
                <a:solidFill>
                  <a:srgbClr val="272622"/>
                </a:solidFill>
                <a:latin typeface="Arial"/>
                <a:ea typeface="Arial"/>
                <a:cs typeface="Arial"/>
              </a:rPr>
              <a:t>a reason to follow through.</a:t>
            </a:r>
          </a:p>
        </p:txBody>
      </p:sp>
      <p:sp>
        <p:nvSpPr>
          <p:cNvPr id="13" name="Source: KNVI Labs. Normal se">
            <a:extLst xmlns:a="http://schemas.openxmlformats.org/drawingml/2006/main">
              <a:ext uri="{FF2B5EF4-FFF2-40B4-BE49-F238E27FC236}">
                <a16:creationId xmlns:a16="http://schemas.microsoft.com/office/drawing/2014/main" id="{E96ABF31-BEF8-4450-8AFC-E7CB06AB6F7C}"/>
              </a:ext>
            </a:extLst>
          </p:cNvPr>
          <p:cNvSpPr>
            <a:spLocks xmlns:a="http://schemas.openxmlformats.org/drawingml/2006/main" noGrp="1"/>
          </p:cNvSpPr>
          <p:nvPr/>
        </p:nvSpPr>
        <p:spPr>
          <a:xfrm xmlns:a="http://schemas.openxmlformats.org/drawingml/2006/main">
            <a:off x="609600" y="6410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96B66"/>
                </a:solidFill>
                <a:latin typeface="Arial"/>
                <a:ea typeface="Arial"/>
                <a:cs typeface="Arial"/>
              </a:defRPr>
            </a:pPr>
            <a:r>
              <a:rPr sz="1275" b="0">
                <a:solidFill>
                  <a:srgbClr val="696B66"/>
                </a:solidFill>
                <a:latin typeface="Arial"/>
                <a:ea typeface="Arial"/>
                <a:cs typeface="Arial"/>
              </a:rPr>
              <a:t>Source: KNVI Labs. Normal settlement: attendees claim; no-shows forfeit.</a:t>
            </a:r>
          </a:p>
        </p:txBody>
      </p:sp>
    </p:spTree>
    <p:extLst>
      <p:ext uri="{BB962C8B-B14F-4D97-AF65-F5344CB8AC3E}">
        <p14:creationId xmlns:p14="http://schemas.microsoft.com/office/powerpoint/2010/main" val="2145596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81b5f90093a48b9"/>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481b5f90093a48b9"/>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3B38BFE3-9B10-44A5-B9E4-D0BC7FED9C17}"/>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Why Monad</a:t>
            </a:r>
          </a:p>
        </p:txBody>
      </p:sp>
      <p:sp>
        <p:nvSpPr>
          <p:cNvPr id="3" name="Deposits and payouts guests ">
            <a:extLst xmlns:a="http://schemas.openxmlformats.org/drawingml/2006/main">
              <a:ext uri="{FF2B5EF4-FFF2-40B4-BE49-F238E27FC236}">
                <a16:creationId xmlns:a16="http://schemas.microsoft.com/office/drawing/2014/main" id="{C12F1666-8CC6-485C-9320-635643F474D6}"/>
              </a:ext>
            </a:extLst>
          </p:cNvPr>
          <p:cNvSpPr>
            <a:spLocks xmlns:a="http://schemas.openxmlformats.org/drawingml/2006/main" noGrp="1"/>
          </p:cNvSpPr>
          <p:nvPr/>
        </p:nvSpPr>
        <p:spPr>
          <a:xfrm xmlns:a="http://schemas.openxmlformats.org/drawingml/2006/main">
            <a:off x="609600" y="1781175"/>
            <a:ext cx="6810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72622"/>
                </a:solidFill>
                <a:latin typeface="Arial"/>
                <a:ea typeface="Arial"/>
                <a:cs typeface="Arial"/>
              </a:defRPr>
            </a:pPr>
            <a:r>
              <a:rPr sz="2550" b="1">
                <a:solidFill>
                  <a:srgbClr val="272622"/>
                </a:solidFill>
                <a:latin typeface="Arial"/>
                <a:ea typeface="Arial"/>
                <a:cs typeface="Arial"/>
              </a:rPr>
              <a:t>Deposits and payouts guests can trace</a:t>
            </a:r>
          </a:p>
        </p:txBody>
      </p:sp>
      <p:sp>
        <p:nvSpPr>
          <p:cNvPr id="4" name="Every commitment and complet">
            <a:extLst xmlns:a="http://schemas.openxmlformats.org/drawingml/2006/main">
              <a:ext uri="{FF2B5EF4-FFF2-40B4-BE49-F238E27FC236}">
                <a16:creationId xmlns:a16="http://schemas.microsoft.com/office/drawing/2014/main" id="{C34F26F4-DF8E-427B-9A59-C191D7121C23}"/>
              </a:ext>
            </a:extLst>
          </p:cNvPr>
          <p:cNvSpPr>
            <a:spLocks xmlns:a="http://schemas.openxmlformats.org/drawingml/2006/main" noGrp="1"/>
          </p:cNvSpPr>
          <p:nvPr/>
        </p:nvSpPr>
        <p:spPr>
          <a:xfrm xmlns:a="http://schemas.openxmlformats.org/drawingml/2006/main">
            <a:off x="609600" y="2533650"/>
            <a:ext cx="681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Every commitment and completed claim</a:t>
            </a:r>
          </a:p>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has an onchain record.</a:t>
            </a:r>
          </a:p>
        </p:txBody>
      </p:sp>
      <p:sp>
        <p:nvSpPr>
          <p:cNvPr id="5" name="Contracts apply the return r">
            <a:extLst xmlns:a="http://schemas.openxmlformats.org/drawingml/2006/main">
              <a:ext uri="{FF2B5EF4-FFF2-40B4-BE49-F238E27FC236}">
                <a16:creationId xmlns:a16="http://schemas.microsoft.com/office/drawing/2014/main" id="{5364F753-CC3A-4D5A-98C9-84E3A49095AD}"/>
              </a:ext>
            </a:extLst>
          </p:cNvPr>
          <p:cNvSpPr>
            <a:spLocks xmlns:a="http://schemas.openxmlformats.org/drawingml/2006/main" noGrp="1"/>
          </p:cNvSpPr>
          <p:nvPr/>
        </p:nvSpPr>
        <p:spPr>
          <a:xfrm xmlns:a="http://schemas.openxmlformats.org/drawingml/2006/main">
            <a:off x="609600" y="3495675"/>
            <a:ext cx="681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72622"/>
                </a:solidFill>
                <a:latin typeface="Arial"/>
                <a:ea typeface="Arial"/>
                <a:cs typeface="Arial"/>
              </a:defRPr>
            </a:pPr>
            <a:r>
              <a:rPr sz="2550" b="1">
                <a:solidFill>
                  <a:srgbClr val="272622"/>
                </a:solidFill>
                <a:latin typeface="Arial"/>
                <a:ea typeface="Arial"/>
                <a:cs typeface="Arial"/>
              </a:rPr>
              <a:t>Contracts apply the return rules</a:t>
            </a:r>
          </a:p>
        </p:txBody>
      </p:sp>
      <p:sp>
        <p:nvSpPr>
          <p:cNvPr id="6" name="Recorded attendance determin">
            <a:extLst xmlns:a="http://schemas.openxmlformats.org/drawingml/2006/main">
              <a:ext uri="{FF2B5EF4-FFF2-40B4-BE49-F238E27FC236}">
                <a16:creationId xmlns:a16="http://schemas.microsoft.com/office/drawing/2014/main" id="{C953FC21-759D-4A16-8A1F-62C99ED2B524}"/>
              </a:ext>
            </a:extLst>
          </p:cNvPr>
          <p:cNvSpPr>
            <a:spLocks xmlns:a="http://schemas.openxmlformats.org/drawingml/2006/main" noGrp="1"/>
          </p:cNvSpPr>
          <p:nvPr/>
        </p:nvSpPr>
        <p:spPr>
          <a:xfrm xmlns:a="http://schemas.openxmlformats.org/drawingml/2006/main">
            <a:off x="609600" y="4210050"/>
            <a:ext cx="6810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Recorded attendance determines</a:t>
            </a:r>
          </a:p>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each guest’s allocation.</a:t>
            </a:r>
          </a:p>
        </p:txBody>
      </p:sp>
      <p:sp>
        <p:nvSpPr>
          <p:cNvPr id="7" name="A practical chain for small ">
            <a:extLst xmlns:a="http://schemas.openxmlformats.org/drawingml/2006/main">
              <a:ext uri="{FF2B5EF4-FFF2-40B4-BE49-F238E27FC236}">
                <a16:creationId xmlns:a16="http://schemas.microsoft.com/office/drawing/2014/main" id="{F0BD82C6-F61F-4CE9-91E2-442F6F7739D7}"/>
              </a:ext>
            </a:extLst>
          </p:cNvPr>
          <p:cNvSpPr>
            <a:spLocks xmlns:a="http://schemas.openxmlformats.org/drawingml/2006/main" noGrp="1"/>
          </p:cNvSpPr>
          <p:nvPr/>
        </p:nvSpPr>
        <p:spPr>
          <a:xfrm xmlns:a="http://schemas.openxmlformats.org/drawingml/2006/main">
            <a:off x="609600" y="5305425"/>
            <a:ext cx="681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B9462D"/>
                </a:solidFill>
                <a:latin typeface="Arial"/>
                <a:ea typeface="Arial"/>
                <a:cs typeface="Arial"/>
              </a:defRPr>
            </a:pPr>
            <a:r>
              <a:rPr sz="2550" b="1">
                <a:solidFill>
                  <a:srgbClr val="B9462D"/>
                </a:solidFill>
                <a:latin typeface="Arial"/>
                <a:ea typeface="Arial"/>
                <a:cs typeface="Arial"/>
              </a:rPr>
              <a:t>A practical chain for small deposits</a:t>
            </a:r>
          </a:p>
        </p:txBody>
      </p:sp>
      <p:sp>
        <p:nvSpPr>
          <p:cNvPr id="8" name="Fast, low-cost transactions ">
            <a:extLst xmlns:a="http://schemas.openxmlformats.org/drawingml/2006/main">
              <a:ext uri="{FF2B5EF4-FFF2-40B4-BE49-F238E27FC236}">
                <a16:creationId xmlns:a16="http://schemas.microsoft.com/office/drawing/2014/main" id="{A80D1F78-9584-45CA-B5A9-9C8F511B370A}"/>
              </a:ext>
            </a:extLst>
          </p:cNvPr>
          <p:cNvSpPr>
            <a:spLocks xmlns:a="http://schemas.openxmlformats.org/drawingml/2006/main" noGrp="1"/>
          </p:cNvSpPr>
          <p:nvPr/>
        </p:nvSpPr>
        <p:spPr>
          <a:xfrm xmlns:a="http://schemas.openxmlformats.org/drawingml/2006/main">
            <a:off x="609600" y="60674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Fast, low-cost transactions with familiar EVM tools.</a:t>
            </a:r>
          </a:p>
        </p:txBody>
      </p:sp>
      <p:sp>
        <p:nvSpPr>
          <p:cNvPr id="9" name="Flow: Commit USDC">
            <a:extLst xmlns:a="http://schemas.openxmlformats.org/drawingml/2006/main">
              <a:ext uri="{FF2B5EF4-FFF2-40B4-BE49-F238E27FC236}">
                <a16:creationId xmlns:a16="http://schemas.microsoft.com/office/drawing/2014/main" id="{058E6C13-CAED-44F2-A6D3-09824915705F}"/>
              </a:ext>
            </a:extLst>
          </p:cNvPr>
          <p:cNvSpPr>
            <a:spLocks xmlns:a="http://schemas.openxmlformats.org/drawingml/2006/main" noGrp="1"/>
          </p:cNvSpPr>
          <p:nvPr/>
        </p:nvSpPr>
        <p:spPr>
          <a:xfrm xmlns:a="http://schemas.openxmlformats.org/drawingml/2006/main">
            <a:off x="8077200" y="2076450"/>
            <a:ext cx="3352800" cy="809625"/>
          </a:xfrm>
          <a:prstGeom xmlns:a="http://schemas.openxmlformats.org/drawingml/2006/main" prst="rect">
            <a:avLst/>
          </a:prstGeom>
          <a:solidFill xmlns:a="http://schemas.openxmlformats.org/drawingml/2006/main">
            <a:srgbClr val="F3E8E1"/>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250" b="1">
                <a:solidFill>
                  <a:srgbClr val="272622"/>
                </a:solidFill>
                <a:latin typeface="Arial"/>
                <a:ea typeface="Arial"/>
                <a:cs typeface="Arial"/>
              </a:defRPr>
            </a:pPr>
            <a:r>
              <a:rPr sz="2250" b="1">
                <a:solidFill>
                  <a:srgbClr val="272622"/>
                </a:solidFill>
                <a:latin typeface="Arial"/>
                <a:ea typeface="Arial"/>
                <a:cs typeface="Arial"/>
              </a:rPr>
              <a:t>Commit USDC</a:t>
            </a:r>
          </a:p>
        </p:txBody>
      </p:sp>
      <p:sp>
        <p:nvSpPr>
          <p:cNvPr id="10" name="Flow: Monad event vault&#10;Published return rules">
            <a:extLst xmlns:a="http://schemas.openxmlformats.org/drawingml/2006/main">
              <a:ext uri="{FF2B5EF4-FFF2-40B4-BE49-F238E27FC236}">
                <a16:creationId xmlns:a16="http://schemas.microsoft.com/office/drawing/2014/main" id="{E978B9F2-918D-4876-A042-A966396FB512}"/>
              </a:ext>
            </a:extLst>
          </p:cNvPr>
          <p:cNvSpPr>
            <a:spLocks xmlns:a="http://schemas.openxmlformats.org/drawingml/2006/main" noGrp="1"/>
          </p:cNvSpPr>
          <p:nvPr/>
        </p:nvSpPr>
        <p:spPr>
          <a:xfrm xmlns:a="http://schemas.openxmlformats.org/drawingml/2006/main">
            <a:off x="8077200" y="3448050"/>
            <a:ext cx="3352800" cy="1009650"/>
          </a:xfrm>
          <a:prstGeom xmlns:a="http://schemas.openxmlformats.org/drawingml/2006/main" prst="rect">
            <a:avLst/>
          </a:prstGeom>
          <a:solidFill xmlns:a="http://schemas.openxmlformats.org/drawingml/2006/main">
            <a:srgbClr val="E6EDE7"/>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175" b="1">
                <a:solidFill>
                  <a:srgbClr val="272622"/>
                </a:solidFill>
                <a:latin typeface="Arial"/>
                <a:ea typeface="Arial"/>
                <a:cs typeface="Arial"/>
              </a:defRPr>
            </a:pPr>
            <a:r>
              <a:rPr sz="2175" b="1">
                <a:solidFill>
                  <a:srgbClr val="272622"/>
                </a:solidFill>
                <a:latin typeface="Arial"/>
                <a:ea typeface="Arial"/>
                <a:cs typeface="Arial"/>
              </a:rPr>
              <a:t>Monad event vault</a:t>
            </a:r>
          </a:p>
          <a:p xmlns:a="http://schemas.openxmlformats.org/drawingml/2006/main">
            <a:pPr algn="ctr">
              <a:defRPr sz="2175" b="1">
                <a:solidFill>
                  <a:srgbClr val="272622"/>
                </a:solidFill>
                <a:latin typeface="Arial"/>
                <a:ea typeface="Arial"/>
                <a:cs typeface="Arial"/>
              </a:defRPr>
            </a:pPr>
            <a:r>
              <a:rPr sz="2175" b="1">
                <a:solidFill>
                  <a:srgbClr val="272622"/>
                </a:solidFill>
                <a:latin typeface="Arial"/>
                <a:ea typeface="Arial"/>
                <a:cs typeface="Arial"/>
              </a:rPr>
              <a:t>Published return rules</a:t>
            </a:r>
          </a:p>
        </p:txBody>
      </p:sp>
      <p:sp>
        <p:nvSpPr>
          <p:cNvPr id="11" name="Flow: Claim the return">
            <a:extLst xmlns:a="http://schemas.openxmlformats.org/drawingml/2006/main">
              <a:ext uri="{FF2B5EF4-FFF2-40B4-BE49-F238E27FC236}">
                <a16:creationId xmlns:a16="http://schemas.microsoft.com/office/drawing/2014/main" id="{87B2741D-BF4F-44FF-93DB-F8BB25152E91}"/>
              </a:ext>
            </a:extLst>
          </p:cNvPr>
          <p:cNvSpPr>
            <a:spLocks xmlns:a="http://schemas.openxmlformats.org/drawingml/2006/main" noGrp="1"/>
          </p:cNvSpPr>
          <p:nvPr/>
        </p:nvSpPr>
        <p:spPr>
          <a:xfrm xmlns:a="http://schemas.openxmlformats.org/drawingml/2006/main">
            <a:off x="8077200" y="5019675"/>
            <a:ext cx="3352800" cy="809625"/>
          </a:xfrm>
          <a:prstGeom xmlns:a="http://schemas.openxmlformats.org/drawingml/2006/main" prst="rect">
            <a:avLst/>
          </a:prstGeom>
          <a:solidFill xmlns:a="http://schemas.openxmlformats.org/drawingml/2006/main">
            <a:srgbClr val="F3E8E1"/>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250" b="1">
                <a:solidFill>
                  <a:srgbClr val="272622"/>
                </a:solidFill>
                <a:latin typeface="Arial"/>
                <a:ea typeface="Arial"/>
                <a:cs typeface="Arial"/>
              </a:defRPr>
            </a:pPr>
            <a:r>
              <a:rPr sz="2250" b="1">
                <a:solidFill>
                  <a:srgbClr val="272622"/>
                </a:solidFill>
                <a:latin typeface="Arial"/>
                <a:ea typeface="Arial"/>
                <a:cs typeface="Arial"/>
              </a:rPr>
              <a:t>Claim the return</a:t>
            </a:r>
          </a:p>
        </p:txBody>
      </p:sp>
      <p:cxnSp>
        <p:nvCxnSpPr>
          <p:cNvPr id="25" name=""/>
          <p:cNvCxnSpPr>
            <a:stCxn xmlns:a="http://schemas.openxmlformats.org/drawingml/2006/main" id="9" idx="2"/>
            <a:endCxn xmlns:a="http://schemas.openxmlformats.org/drawingml/2006/main" id="10" idx="0"/>
          </p:cNvCxnSpPr>
          <p:nvPr/>
        </p:nvCxnSpPr>
        <p:spPr>
          <a:xfrm xmlns:a="http://schemas.openxmlformats.org/drawingml/2006/main">
            <a:off x="9753600" y="2886075"/>
            <a:ext cx="0" cy="561975"/>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cxnSp>
        <p:nvCxnSpPr>
          <p:cNvPr id="26" name=""/>
          <p:cNvCxnSpPr>
            <a:stCxn xmlns:a="http://schemas.openxmlformats.org/drawingml/2006/main" id="10" idx="2"/>
            <a:endCxn xmlns:a="http://schemas.openxmlformats.org/drawingml/2006/main" id="11" idx="0"/>
          </p:cNvCxnSpPr>
          <p:nvPr/>
        </p:nvCxnSpPr>
        <p:spPr>
          <a:xfrm xmlns:a="http://schemas.openxmlformats.org/drawingml/2006/main">
            <a:off x="9753600" y="4457700"/>
            <a:ext cx="0" cy="561975"/>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spTree>
    <p:extLst>
      <p:ext uri="{BB962C8B-B14F-4D97-AF65-F5344CB8AC3E}">
        <p14:creationId xmlns:p14="http://schemas.microsoft.com/office/powerpoint/2010/main" val="9297082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a7ebadb44aa4195"/>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9a7ebadb44aa4195"/>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2768BDDA-8942-49BD-8BF3-21A8B33B1BDD}"/>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How CommitPass works</a:t>
            </a:r>
          </a:p>
        </p:txBody>
      </p:sp>
      <p:sp>
        <p:nvSpPr>
          <p:cNvPr id="3" name="Flow: Create">
            <a:extLst xmlns:a="http://schemas.openxmlformats.org/drawingml/2006/main">
              <a:ext uri="{FF2B5EF4-FFF2-40B4-BE49-F238E27FC236}">
                <a16:creationId xmlns:a16="http://schemas.microsoft.com/office/drawing/2014/main" id="{0DC4C686-5206-40E2-AEE1-1B9F8D980952}"/>
              </a:ext>
            </a:extLst>
          </p:cNvPr>
          <p:cNvSpPr>
            <a:spLocks xmlns:a="http://schemas.openxmlformats.org/drawingml/2006/main" noGrp="1"/>
          </p:cNvSpPr>
          <p:nvPr/>
        </p:nvSpPr>
        <p:spPr>
          <a:xfrm xmlns:a="http://schemas.openxmlformats.org/drawingml/2006/main">
            <a:off x="609600" y="1714500"/>
            <a:ext cx="1571625" cy="857250"/>
          </a:xfrm>
          <a:prstGeom xmlns:a="http://schemas.openxmlformats.org/drawingml/2006/main" prst="rect">
            <a:avLst/>
          </a:prstGeom>
          <a:solidFill xmlns:a="http://schemas.openxmlformats.org/drawingml/2006/main">
            <a:srgbClr val="F3E8E1"/>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272622"/>
                </a:solidFill>
                <a:latin typeface="Arial"/>
                <a:ea typeface="Arial"/>
                <a:cs typeface="Arial"/>
              </a:defRPr>
            </a:pPr>
            <a:r>
              <a:rPr sz="1875" b="1">
                <a:solidFill>
                  <a:srgbClr val="272622"/>
                </a:solidFill>
                <a:latin typeface="Arial"/>
                <a:ea typeface="Arial"/>
                <a:cs typeface="Arial"/>
              </a:rPr>
              <a:t>Create</a:t>
            </a:r>
          </a:p>
        </p:txBody>
      </p:sp>
      <p:sp>
        <p:nvSpPr>
          <p:cNvPr id="4" name="Flow: Commit USDC">
            <a:extLst xmlns:a="http://schemas.openxmlformats.org/drawingml/2006/main">
              <a:ext uri="{FF2B5EF4-FFF2-40B4-BE49-F238E27FC236}">
                <a16:creationId xmlns:a16="http://schemas.microsoft.com/office/drawing/2014/main" id="{BD648419-9400-4B3B-8F00-AF8051A0E004}"/>
              </a:ext>
            </a:extLst>
          </p:cNvPr>
          <p:cNvSpPr>
            <a:spLocks xmlns:a="http://schemas.openxmlformats.org/drawingml/2006/main" noGrp="1"/>
          </p:cNvSpPr>
          <p:nvPr/>
        </p:nvSpPr>
        <p:spPr>
          <a:xfrm xmlns:a="http://schemas.openxmlformats.org/drawingml/2006/main">
            <a:off x="2447925" y="1714500"/>
            <a:ext cx="1571625" cy="857250"/>
          </a:xfrm>
          <a:prstGeom xmlns:a="http://schemas.openxmlformats.org/drawingml/2006/main" prst="rect">
            <a:avLst/>
          </a:prstGeom>
          <a:solidFill xmlns:a="http://schemas.openxmlformats.org/drawingml/2006/main">
            <a:srgbClr val="F3E8E1"/>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272622"/>
                </a:solidFill>
                <a:latin typeface="Arial"/>
                <a:ea typeface="Arial"/>
                <a:cs typeface="Arial"/>
              </a:defRPr>
            </a:pPr>
            <a:r>
              <a:rPr sz="1875" b="1">
                <a:solidFill>
                  <a:srgbClr val="272622"/>
                </a:solidFill>
                <a:latin typeface="Arial"/>
                <a:ea typeface="Arial"/>
                <a:cs typeface="Arial"/>
              </a:rPr>
              <a:t>Commit USDC</a:t>
            </a:r>
          </a:p>
        </p:txBody>
      </p:sp>
      <p:sp>
        <p:nvSpPr>
          <p:cNvPr id="5" name="Flow: Start">
            <a:extLst xmlns:a="http://schemas.openxmlformats.org/drawingml/2006/main">
              <a:ext uri="{FF2B5EF4-FFF2-40B4-BE49-F238E27FC236}">
                <a16:creationId xmlns:a16="http://schemas.microsoft.com/office/drawing/2014/main" id="{25DBB3CF-0A8D-446E-A4D5-D8BEF8DCF2C7}"/>
              </a:ext>
            </a:extLst>
          </p:cNvPr>
          <p:cNvSpPr>
            <a:spLocks xmlns:a="http://schemas.openxmlformats.org/drawingml/2006/main" noGrp="1"/>
          </p:cNvSpPr>
          <p:nvPr/>
        </p:nvSpPr>
        <p:spPr>
          <a:xfrm xmlns:a="http://schemas.openxmlformats.org/drawingml/2006/main">
            <a:off x="4286250" y="1714500"/>
            <a:ext cx="1571625" cy="857250"/>
          </a:xfrm>
          <a:prstGeom xmlns:a="http://schemas.openxmlformats.org/drawingml/2006/main" prst="rect">
            <a:avLst/>
          </a:prstGeom>
          <a:solidFill xmlns:a="http://schemas.openxmlformats.org/drawingml/2006/main">
            <a:srgbClr val="F3E8E1"/>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272622"/>
                </a:solidFill>
                <a:latin typeface="Arial"/>
                <a:ea typeface="Arial"/>
                <a:cs typeface="Arial"/>
              </a:defRPr>
            </a:pPr>
            <a:r>
              <a:rPr sz="1875" b="1">
                <a:solidFill>
                  <a:srgbClr val="272622"/>
                </a:solidFill>
                <a:latin typeface="Arial"/>
                <a:ea typeface="Arial"/>
                <a:cs typeface="Arial"/>
              </a:rPr>
              <a:t>Start</a:t>
            </a:r>
          </a:p>
        </p:txBody>
      </p:sp>
      <p:sp>
        <p:nvSpPr>
          <p:cNvPr id="6" name="Flow: QR check-in">
            <a:extLst xmlns:a="http://schemas.openxmlformats.org/drawingml/2006/main">
              <a:ext uri="{FF2B5EF4-FFF2-40B4-BE49-F238E27FC236}">
                <a16:creationId xmlns:a16="http://schemas.microsoft.com/office/drawing/2014/main" id="{6FADAADF-AF01-4CCA-8C1D-B41966A733E6}"/>
              </a:ext>
            </a:extLst>
          </p:cNvPr>
          <p:cNvSpPr>
            <a:spLocks xmlns:a="http://schemas.openxmlformats.org/drawingml/2006/main" noGrp="1"/>
          </p:cNvSpPr>
          <p:nvPr/>
        </p:nvSpPr>
        <p:spPr>
          <a:xfrm xmlns:a="http://schemas.openxmlformats.org/drawingml/2006/main">
            <a:off x="6124575" y="1714500"/>
            <a:ext cx="1571625" cy="857250"/>
          </a:xfrm>
          <a:prstGeom xmlns:a="http://schemas.openxmlformats.org/drawingml/2006/main" prst="rect">
            <a:avLst/>
          </a:prstGeom>
          <a:solidFill xmlns:a="http://schemas.openxmlformats.org/drawingml/2006/main">
            <a:srgbClr val="E6EDE7"/>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272622"/>
                </a:solidFill>
                <a:latin typeface="Arial"/>
                <a:ea typeface="Arial"/>
                <a:cs typeface="Arial"/>
              </a:defRPr>
            </a:pPr>
            <a:r>
              <a:rPr sz="1875" b="1">
                <a:solidFill>
                  <a:srgbClr val="272622"/>
                </a:solidFill>
                <a:latin typeface="Arial"/>
                <a:ea typeface="Arial"/>
                <a:cs typeface="Arial"/>
              </a:rPr>
              <a:t>QR check-in</a:t>
            </a:r>
          </a:p>
        </p:txBody>
      </p:sp>
      <p:sp>
        <p:nvSpPr>
          <p:cNvPr id="7" name="Flow: Settle">
            <a:extLst xmlns:a="http://schemas.openxmlformats.org/drawingml/2006/main">
              <a:ext uri="{FF2B5EF4-FFF2-40B4-BE49-F238E27FC236}">
                <a16:creationId xmlns:a16="http://schemas.microsoft.com/office/drawing/2014/main" id="{CABA124F-1476-4911-8EB6-9E1476317177}"/>
              </a:ext>
            </a:extLst>
          </p:cNvPr>
          <p:cNvSpPr>
            <a:spLocks xmlns:a="http://schemas.openxmlformats.org/drawingml/2006/main" noGrp="1"/>
          </p:cNvSpPr>
          <p:nvPr/>
        </p:nvSpPr>
        <p:spPr>
          <a:xfrm xmlns:a="http://schemas.openxmlformats.org/drawingml/2006/main">
            <a:off x="7962900" y="1714500"/>
            <a:ext cx="1571625" cy="857250"/>
          </a:xfrm>
          <a:prstGeom xmlns:a="http://schemas.openxmlformats.org/drawingml/2006/main" prst="rect">
            <a:avLst/>
          </a:prstGeom>
          <a:solidFill xmlns:a="http://schemas.openxmlformats.org/drawingml/2006/main">
            <a:srgbClr val="E6EDE7"/>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272622"/>
                </a:solidFill>
                <a:latin typeface="Arial"/>
                <a:ea typeface="Arial"/>
                <a:cs typeface="Arial"/>
              </a:defRPr>
            </a:pPr>
            <a:r>
              <a:rPr sz="1875" b="1">
                <a:solidFill>
                  <a:srgbClr val="272622"/>
                </a:solidFill>
                <a:latin typeface="Arial"/>
                <a:ea typeface="Arial"/>
                <a:cs typeface="Arial"/>
              </a:rPr>
              <a:t>Settle</a:t>
            </a:r>
          </a:p>
        </p:txBody>
      </p:sp>
      <p:sp>
        <p:nvSpPr>
          <p:cNvPr id="8" name="Flow: Claim">
            <a:extLst xmlns:a="http://schemas.openxmlformats.org/drawingml/2006/main">
              <a:ext uri="{FF2B5EF4-FFF2-40B4-BE49-F238E27FC236}">
                <a16:creationId xmlns:a16="http://schemas.microsoft.com/office/drawing/2014/main" id="{DA0250AC-4DEF-42BB-9F55-D82B47B89D30}"/>
              </a:ext>
            </a:extLst>
          </p:cNvPr>
          <p:cNvSpPr>
            <a:spLocks xmlns:a="http://schemas.openxmlformats.org/drawingml/2006/main" noGrp="1"/>
          </p:cNvSpPr>
          <p:nvPr/>
        </p:nvSpPr>
        <p:spPr>
          <a:xfrm xmlns:a="http://schemas.openxmlformats.org/drawingml/2006/main">
            <a:off x="9801225" y="1714500"/>
            <a:ext cx="1571625" cy="857250"/>
          </a:xfrm>
          <a:prstGeom xmlns:a="http://schemas.openxmlformats.org/drawingml/2006/main" prst="rect">
            <a:avLst/>
          </a:prstGeom>
          <a:solidFill xmlns:a="http://schemas.openxmlformats.org/drawingml/2006/main">
            <a:srgbClr val="E6EDE7"/>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1875" b="1">
                <a:solidFill>
                  <a:srgbClr val="272622"/>
                </a:solidFill>
                <a:latin typeface="Arial"/>
                <a:ea typeface="Arial"/>
                <a:cs typeface="Arial"/>
              </a:defRPr>
            </a:pPr>
            <a:r>
              <a:rPr sz="1875" b="1">
                <a:solidFill>
                  <a:srgbClr val="272622"/>
                </a:solidFill>
                <a:latin typeface="Arial"/>
                <a:ea typeface="Arial"/>
                <a:cs typeface="Arial"/>
              </a:rPr>
              <a:t>Claim</a:t>
            </a:r>
          </a:p>
        </p:txBody>
      </p:sp>
      <p:cxnSp>
        <p:nvCxnSpPr>
          <p:cNvPr id="27" name=""/>
          <p:cNvCxnSpPr>
            <a:stCxn xmlns:a="http://schemas.openxmlformats.org/drawingml/2006/main" id="3" idx="3"/>
            <a:endCxn xmlns:a="http://schemas.openxmlformats.org/drawingml/2006/main" id="4" idx="1"/>
          </p:cNvCxnSpPr>
          <p:nvPr/>
        </p:nvCxnSpPr>
        <p:spPr>
          <a:xfrm xmlns:a="http://schemas.openxmlformats.org/drawingml/2006/main">
            <a:off x="2181225" y="2143125"/>
            <a:ext cx="266700" cy="0"/>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4019550" y="2143125"/>
            <a:ext cx="266700" cy="0"/>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5857875" y="2143125"/>
            <a:ext cx="266700" cy="0"/>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7696200" y="2143125"/>
            <a:ext cx="266700" cy="0"/>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9534525" y="2143125"/>
            <a:ext cx="266700" cy="0"/>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sp>
        <p:nvSpPr>
          <p:cNvPr id="14" name="Guest reservation pass">
            <a:extLst xmlns:a="http://schemas.openxmlformats.org/drawingml/2006/main">
              <a:ext uri="{FF2B5EF4-FFF2-40B4-BE49-F238E27FC236}">
                <a16:creationId xmlns:a16="http://schemas.microsoft.com/office/drawing/2014/main" id="{B6F2AA26-A68D-4117-AFC5-1C82F3CA83B3}"/>
              </a:ext>
            </a:extLst>
          </p:cNvPr>
          <p:cNvSpPr>
            <a:spLocks xmlns:a="http://schemas.openxmlformats.org/drawingml/2006/main" noGrp="1"/>
          </p:cNvSpPr>
          <p:nvPr/>
        </p:nvSpPr>
        <p:spPr>
          <a:xfrm xmlns:a="http://schemas.openxmlformats.org/drawingml/2006/main">
            <a:off x="609600" y="29908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96B66"/>
                </a:solidFill>
                <a:latin typeface="Arial"/>
                <a:ea typeface="Arial"/>
                <a:cs typeface="Arial"/>
              </a:defRPr>
            </a:pPr>
            <a:r>
              <a:rPr sz="1800" b="0">
                <a:solidFill>
                  <a:srgbClr val="696B66"/>
                </a:solidFill>
                <a:latin typeface="Arial"/>
                <a:ea typeface="Arial"/>
                <a:cs typeface="Arial"/>
              </a:rPr>
              <a:t>Guest reservation pass</a:t>
            </a:r>
          </a:p>
        </p:txBody>
      </p:sp>
      <p:sp>
        <p:nvSpPr>
          <p:cNvPr id="15" name="Host participant management">
            <a:extLst xmlns:a="http://schemas.openxmlformats.org/drawingml/2006/main">
              <a:ext uri="{FF2B5EF4-FFF2-40B4-BE49-F238E27FC236}">
                <a16:creationId xmlns:a16="http://schemas.microsoft.com/office/drawing/2014/main" id="{D449099C-0A4A-4680-A315-E55D6DE639FA}"/>
              </a:ext>
            </a:extLst>
          </p:cNvPr>
          <p:cNvSpPr>
            <a:spLocks xmlns:a="http://schemas.openxmlformats.org/drawingml/2006/main" noGrp="1"/>
          </p:cNvSpPr>
          <p:nvPr/>
        </p:nvSpPr>
        <p:spPr>
          <a:xfrm xmlns:a="http://schemas.openxmlformats.org/drawingml/2006/main">
            <a:off x="6276975" y="2990850"/>
            <a:ext cx="525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96B66"/>
                </a:solidFill>
                <a:latin typeface="Arial"/>
                <a:ea typeface="Arial"/>
                <a:cs typeface="Arial"/>
              </a:defRPr>
            </a:pPr>
            <a:r>
              <a:rPr sz="1800" b="0">
                <a:solidFill>
                  <a:srgbClr val="696B66"/>
                </a:solidFill>
                <a:latin typeface="Arial"/>
                <a:ea typeface="Arial"/>
                <a:cs typeface="Arial"/>
              </a:rPr>
              <a:t>Host participant management</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bbb8f5f24734062"/>
          <a:srcRect xmlns:a="http://schemas.openxmlformats.org/drawingml/2006/main" l="44700" t="6500" r="24300" b="63700"/>
          <a:stretch xmlns:a="http://schemas.openxmlformats.org/drawingml/2006/main"/>
        </p:blipFill>
        <p:spPr>
          <a:xfrm xmlns:a="http://schemas.openxmlformats.org/drawingml/2006/main">
            <a:off x="609600" y="3503959"/>
            <a:ext cx="5095875" cy="2374208"/>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a1a46dbf47a497e"/>
          <a:srcRect xmlns:a="http://schemas.openxmlformats.org/drawingml/2006/main" l="43060" t="29000" r="23570" b="39700"/>
          <a:stretch xmlns:a="http://schemas.openxmlformats.org/drawingml/2006/main"/>
        </p:blipFill>
        <p:spPr>
          <a:xfrm xmlns:a="http://schemas.openxmlformats.org/drawingml/2006/main">
            <a:off x="6366902" y="3476625"/>
            <a:ext cx="5077946" cy="2428875"/>
          </a:xfrm>
          <a:prstGeom xmlns:a="http://schemas.openxmlformats.org/drawingml/2006/main" prst="rect">
            <a:avLst/>
          </a:prstGeom>
        </p:spPr>
      </p:pic>
      <p:sp>
        <p:nvSpPr>
          <p:cNvPr id="18" name="The organizer records attend">
            <a:extLst xmlns:a="http://schemas.openxmlformats.org/drawingml/2006/main">
              <a:ext uri="{FF2B5EF4-FFF2-40B4-BE49-F238E27FC236}">
                <a16:creationId xmlns:a16="http://schemas.microsoft.com/office/drawing/2014/main" id="{0F066D25-4FE1-42A8-8136-0FBA7F5450F3}"/>
              </a:ext>
            </a:extLst>
          </p:cNvPr>
          <p:cNvSpPr>
            <a:spLocks xmlns:a="http://schemas.openxmlformats.org/drawingml/2006/main" noGrp="1"/>
          </p:cNvSpPr>
          <p:nvPr/>
        </p:nvSpPr>
        <p:spPr>
          <a:xfrm xmlns:a="http://schemas.openxmlformats.org/drawingml/2006/main">
            <a:off x="609600" y="6248400"/>
            <a:ext cx="10944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696B66"/>
                </a:solidFill>
                <a:latin typeface="Arial"/>
                <a:ea typeface="Arial"/>
                <a:cs typeface="Arial"/>
              </a:defRPr>
            </a:pPr>
            <a:r>
              <a:rPr sz="1575" b="0">
                <a:solidFill>
                  <a:srgbClr val="696B66"/>
                </a:solidFill>
                <a:latin typeface="Arial"/>
                <a:ea typeface="Arial"/>
                <a:cs typeface="Arial"/>
              </a:rPr>
              <a:t>The organizer records attendance. Settlement fixes allocations. Each guest signs a claim.</a:t>
            </a:r>
          </a:p>
        </p:txBody>
      </p:sp>
    </p:spTree>
    <p:extLst>
      <p:ext uri="{BB962C8B-B14F-4D97-AF65-F5344CB8AC3E}">
        <p14:creationId xmlns:p14="http://schemas.microsoft.com/office/powerpoint/2010/main" val="19989802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cf2cfbb779b4b29"/>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9cf2cfbb779b4b29"/>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E650BF4B-8B00-49FC-B279-FB2D9C7000B8}"/>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Commitments at work</a:t>
            </a:r>
          </a:p>
        </p:txBody>
      </p:sp>
      <p:sp>
        <p:nvSpPr>
          <p:cNvPr id="3" name="While you’re at the event,&#10;y">
            <a:extLst xmlns:a="http://schemas.openxmlformats.org/drawingml/2006/main">
              <a:ext uri="{FF2B5EF4-FFF2-40B4-BE49-F238E27FC236}">
                <a16:creationId xmlns:a16="http://schemas.microsoft.com/office/drawing/2014/main" id="{D9A740AD-C7D5-4729-B614-0ECF9B757A4B}"/>
              </a:ext>
            </a:extLst>
          </p:cNvPr>
          <p:cNvSpPr>
            <a:spLocks xmlns:a="http://schemas.openxmlformats.org/drawingml/2006/main" noGrp="1"/>
          </p:cNvSpPr>
          <p:nvPr/>
        </p:nvSpPr>
        <p:spPr>
          <a:xfrm xmlns:a="http://schemas.openxmlformats.org/drawingml/2006/main">
            <a:off x="609600" y="1600200"/>
            <a:ext cx="10458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72622"/>
                </a:solidFill>
                <a:latin typeface="Arial"/>
                <a:ea typeface="Arial"/>
                <a:cs typeface="Arial"/>
              </a:defRPr>
            </a:pPr>
            <a:r>
              <a:rPr sz="2625" b="0">
                <a:solidFill>
                  <a:srgbClr val="272622"/>
                </a:solidFill>
                <a:latin typeface="Arial"/>
                <a:ea typeface="Arial"/>
                <a:cs typeface="Arial"/>
              </a:rPr>
              <a:t>While you’re at the event,</a:t>
            </a:r>
          </a:p>
          <a:p xmlns:a="http://schemas.openxmlformats.org/drawingml/2006/main">
            <a:pPr algn="l">
              <a:defRPr sz="2625" b="0">
                <a:solidFill>
                  <a:srgbClr val="272622"/>
                </a:solidFill>
                <a:latin typeface="Arial"/>
                <a:ea typeface="Arial"/>
                <a:cs typeface="Arial"/>
              </a:defRPr>
            </a:pPr>
            <a:r>
              <a:rPr sz="2625" b="0">
                <a:solidFill>
                  <a:srgbClr val="272622"/>
                </a:solidFill>
                <a:latin typeface="Arial"/>
                <a:ea typeface="Arial"/>
                <a:cs typeface="Arial"/>
              </a:rPr>
              <a:t>your money can earn yield.</a:t>
            </a:r>
          </a:p>
        </p:txBody>
      </p:sp>
      <p:sp>
        <p:nvSpPr>
          <p:cNvPr id="4" name="Flow: Event vault&#10;USDC deposits">
            <a:extLst xmlns:a="http://schemas.openxmlformats.org/drawingml/2006/main">
              <a:ext uri="{FF2B5EF4-FFF2-40B4-BE49-F238E27FC236}">
                <a16:creationId xmlns:a16="http://schemas.microsoft.com/office/drawing/2014/main" id="{C37C7D09-2E75-4761-AA43-FDBB022052D9}"/>
              </a:ext>
            </a:extLst>
          </p:cNvPr>
          <p:cNvSpPr>
            <a:spLocks xmlns:a="http://schemas.openxmlformats.org/drawingml/2006/main" noGrp="1"/>
          </p:cNvSpPr>
          <p:nvPr/>
        </p:nvSpPr>
        <p:spPr>
          <a:xfrm xmlns:a="http://schemas.openxmlformats.org/drawingml/2006/main">
            <a:off x="609600" y="2952750"/>
            <a:ext cx="2809875" cy="1238250"/>
          </a:xfrm>
          <a:prstGeom xmlns:a="http://schemas.openxmlformats.org/drawingml/2006/main" prst="rect">
            <a:avLst/>
          </a:prstGeom>
          <a:solidFill xmlns:a="http://schemas.openxmlformats.org/drawingml/2006/main">
            <a:srgbClr val="F3E8E1"/>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325" b="1">
                <a:solidFill>
                  <a:srgbClr val="272622"/>
                </a:solidFill>
                <a:latin typeface="Arial"/>
                <a:ea typeface="Arial"/>
                <a:cs typeface="Arial"/>
              </a:defRPr>
            </a:pPr>
            <a:r>
              <a:rPr sz="2325" b="1">
                <a:solidFill>
                  <a:srgbClr val="272622"/>
                </a:solidFill>
                <a:latin typeface="Arial"/>
                <a:ea typeface="Arial"/>
                <a:cs typeface="Arial"/>
              </a:rPr>
              <a:t>Event vault</a:t>
            </a:r>
          </a:p>
          <a:p xmlns:a="http://schemas.openxmlformats.org/drawingml/2006/main">
            <a:pPr algn="ctr">
              <a:defRPr sz="2325" b="1">
                <a:solidFill>
                  <a:srgbClr val="272622"/>
                </a:solidFill>
                <a:latin typeface="Arial"/>
                <a:ea typeface="Arial"/>
                <a:cs typeface="Arial"/>
              </a:defRPr>
            </a:pPr>
            <a:r>
              <a:rPr sz="2325" b="1">
                <a:solidFill>
                  <a:srgbClr val="272622"/>
                </a:solidFill>
                <a:latin typeface="Arial"/>
                <a:ea typeface="Arial"/>
                <a:cs typeface="Arial"/>
              </a:rPr>
              <a:t>USDC deposits</a:t>
            </a:r>
          </a:p>
        </p:txBody>
      </p:sp>
      <p:sp>
        <p:nvSpPr>
          <p:cNvPr id="5" name="Flow: Yield vault&#10;Morpho path">
            <a:extLst xmlns:a="http://schemas.openxmlformats.org/drawingml/2006/main">
              <a:ext uri="{FF2B5EF4-FFF2-40B4-BE49-F238E27FC236}">
                <a16:creationId xmlns:a16="http://schemas.microsoft.com/office/drawing/2014/main" id="{551DBE9A-3E41-45B6-BC37-FA829D3E560F}"/>
              </a:ext>
            </a:extLst>
          </p:cNvPr>
          <p:cNvSpPr>
            <a:spLocks xmlns:a="http://schemas.openxmlformats.org/drawingml/2006/main" noGrp="1"/>
          </p:cNvSpPr>
          <p:nvPr/>
        </p:nvSpPr>
        <p:spPr>
          <a:xfrm xmlns:a="http://schemas.openxmlformats.org/drawingml/2006/main">
            <a:off x="4581525" y="2952750"/>
            <a:ext cx="2809875" cy="12382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325" b="1">
                <a:solidFill>
                  <a:srgbClr val="272622"/>
                </a:solidFill>
                <a:latin typeface="Arial"/>
                <a:ea typeface="Arial"/>
                <a:cs typeface="Arial"/>
              </a:defRPr>
            </a:pPr>
            <a:r>
              <a:rPr sz="2325" b="1">
                <a:solidFill>
                  <a:srgbClr val="272622"/>
                </a:solidFill>
                <a:latin typeface="Arial"/>
                <a:ea typeface="Arial"/>
                <a:cs typeface="Arial"/>
              </a:rPr>
              <a:t>Yield vault</a:t>
            </a:r>
          </a:p>
          <a:p xmlns:a="http://schemas.openxmlformats.org/drawingml/2006/main">
            <a:pPr algn="ctr">
              <a:defRPr sz="2325" b="1">
                <a:solidFill>
                  <a:srgbClr val="272622"/>
                </a:solidFill>
                <a:latin typeface="Arial"/>
                <a:ea typeface="Arial"/>
                <a:cs typeface="Arial"/>
              </a:defRPr>
            </a:pPr>
            <a:r>
              <a:rPr sz="2325" b="1">
                <a:solidFill>
                  <a:srgbClr val="272622"/>
                </a:solidFill>
                <a:latin typeface="Arial"/>
                <a:ea typeface="Arial"/>
                <a:cs typeface="Arial"/>
              </a:rPr>
              <a:t>Morpho path</a:t>
            </a:r>
          </a:p>
        </p:txBody>
      </p:sp>
      <p:sp>
        <p:nvSpPr>
          <p:cNvPr id="6" name="Flow: Deposit + yield&#10;at settlement">
            <a:extLst xmlns:a="http://schemas.openxmlformats.org/drawingml/2006/main">
              <a:ext uri="{FF2B5EF4-FFF2-40B4-BE49-F238E27FC236}">
                <a16:creationId xmlns:a16="http://schemas.microsoft.com/office/drawing/2014/main" id="{3081A28F-5CEF-44D8-A613-0B059DF9B7AD}"/>
              </a:ext>
            </a:extLst>
          </p:cNvPr>
          <p:cNvSpPr>
            <a:spLocks xmlns:a="http://schemas.openxmlformats.org/drawingml/2006/main" noGrp="1"/>
          </p:cNvSpPr>
          <p:nvPr/>
        </p:nvSpPr>
        <p:spPr>
          <a:xfrm xmlns:a="http://schemas.openxmlformats.org/drawingml/2006/main">
            <a:off x="8562975" y="2952750"/>
            <a:ext cx="3019425" cy="1238250"/>
          </a:xfrm>
          <a:prstGeom xmlns:a="http://schemas.openxmlformats.org/drawingml/2006/main" prst="rect">
            <a:avLst/>
          </a:prstGeom>
          <a:solidFill xmlns:a="http://schemas.openxmlformats.org/drawingml/2006/main">
            <a:srgbClr val="E6EDE7"/>
          </a:solidFill>
          <a:ln xmlns:a="http://schemas.openxmlformats.org/drawingml/2006/main" w="0">
            <a:noFill/>
          </a:ln>
        </p:spPr>
        <p:txBody>
          <a:bodyPr xmlns:a="http://schemas.openxmlformats.org/drawingml/2006/main" lIns="114300" tIns="114300" rIns="114300" bIns="114300" anchor="ctr">
            <a:noAutofit/>
          </a:bodyPr>
          <a:lstStyle xmlns:a="http://schemas.openxmlformats.org/drawingml/2006/main"/>
          <a:p xmlns:a="http://schemas.openxmlformats.org/drawingml/2006/main">
            <a:pPr algn="ctr">
              <a:defRPr sz="2175" b="1">
                <a:solidFill>
                  <a:srgbClr val="272622"/>
                </a:solidFill>
                <a:latin typeface="Arial"/>
                <a:ea typeface="Arial"/>
                <a:cs typeface="Arial"/>
              </a:defRPr>
            </a:pPr>
            <a:r>
              <a:rPr sz="2175" b="1">
                <a:solidFill>
                  <a:srgbClr val="272622"/>
                </a:solidFill>
                <a:latin typeface="Arial"/>
                <a:ea typeface="Arial"/>
                <a:cs typeface="Arial"/>
              </a:rPr>
              <a:t>Deposit + yield</a:t>
            </a:r>
          </a:p>
          <a:p xmlns:a="http://schemas.openxmlformats.org/drawingml/2006/main">
            <a:pPr algn="ctr">
              <a:defRPr sz="2175" b="1">
                <a:solidFill>
                  <a:srgbClr val="272622"/>
                </a:solidFill>
                <a:latin typeface="Arial"/>
                <a:ea typeface="Arial"/>
                <a:cs typeface="Arial"/>
              </a:defRPr>
            </a:pPr>
            <a:r>
              <a:rPr sz="2175" b="1">
                <a:solidFill>
                  <a:srgbClr val="272622"/>
                </a:solidFill>
                <a:latin typeface="Arial"/>
                <a:ea typeface="Arial"/>
                <a:cs typeface="Arial"/>
              </a:rPr>
              <a:t>at settlement</a:t>
            </a:r>
          </a:p>
        </p:txBody>
      </p: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3419475" y="3571875"/>
            <a:ext cx="1162050" cy="0"/>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7391400" y="3571875"/>
            <a:ext cx="1171575" cy="0"/>
          </a:xfrm>
          <a:prstGeom xmlns:a="http://schemas.openxmlformats.org/drawingml/2006/main" prst="straightConnector1">
            <a:avLst/>
          </a:prstGeom>
          <a:ln xmlns:a="http://schemas.openxmlformats.org/drawingml/2006/main" w="19050">
            <a:solidFill>
              <a:srgbClr val="696B66"/>
            </a:solidFill>
            <a:headEnd type="none" w="med" len="med"/>
            <a:tailEnd type="triangle" w="med" len="med"/>
          </a:ln>
        </p:spPr>
      </p:cxnSp>
      <p:sp>
        <p:nvSpPr>
          <p:cNvPr id="9" name="Morpho: Hyperithm USDC Apex">
            <a:extLst xmlns:a="http://schemas.openxmlformats.org/drawingml/2006/main">
              <a:ext uri="{FF2B5EF4-FFF2-40B4-BE49-F238E27FC236}">
                <a16:creationId xmlns:a16="http://schemas.microsoft.com/office/drawing/2014/main" id="{130793AD-C130-4516-855C-E6F87914652F}"/>
              </a:ext>
            </a:extLst>
          </p:cNvPr>
          <p:cNvSpPr>
            <a:spLocks xmlns:a="http://schemas.openxmlformats.org/drawingml/2006/main" noGrp="1"/>
          </p:cNvSpPr>
          <p:nvPr/>
        </p:nvSpPr>
        <p:spPr>
          <a:xfrm xmlns:a="http://schemas.openxmlformats.org/drawingml/2006/main">
            <a:off x="609600" y="4810125"/>
            <a:ext cx="108013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B9462D"/>
                </a:solidFill>
                <a:latin typeface="Arial"/>
                <a:ea typeface="Arial"/>
                <a:cs typeface="Arial"/>
              </a:defRPr>
            </a:pPr>
            <a:r>
              <a:rPr sz="2475" b="1">
                <a:solidFill>
                  <a:srgbClr val="B9462D"/>
                </a:solidFill>
                <a:latin typeface="Arial"/>
                <a:ea typeface="Arial"/>
                <a:cs typeface="Arial"/>
              </a:rPr>
              <a:t>Morpho: Hyperithm USDC Apex</a:t>
            </a:r>
          </a:p>
        </p:txBody>
      </p:sp>
      <p:sp>
        <p:nvSpPr>
          <p:cNvPr id="10" name="Integration path tested thro">
            <a:extLst xmlns:a="http://schemas.openxmlformats.org/drawingml/2006/main">
              <a:ext uri="{FF2B5EF4-FFF2-40B4-BE49-F238E27FC236}">
                <a16:creationId xmlns:a16="http://schemas.microsoft.com/office/drawing/2014/main" id="{C4D0D2A3-DF31-47F9-9C59-C08A4E69886B}"/>
              </a:ext>
            </a:extLst>
          </p:cNvPr>
          <p:cNvSpPr>
            <a:spLocks xmlns:a="http://schemas.openxmlformats.org/drawingml/2006/main" noGrp="1"/>
          </p:cNvSpPr>
          <p:nvPr/>
        </p:nvSpPr>
        <p:spPr>
          <a:xfrm xmlns:a="http://schemas.openxmlformats.org/drawingml/2006/main">
            <a:off x="609600" y="5438775"/>
            <a:ext cx="10801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96B66"/>
                </a:solidFill>
                <a:latin typeface="Arial"/>
                <a:ea typeface="Arial"/>
                <a:cs typeface="Arial"/>
              </a:defRPr>
            </a:pPr>
            <a:r>
              <a:rPr sz="1800" b="0">
                <a:solidFill>
                  <a:srgbClr val="696B66"/>
                </a:solidFill>
                <a:latin typeface="Arial"/>
                <a:ea typeface="Arial"/>
                <a:cs typeface="Arial"/>
              </a:rPr>
              <a:t>Integration path tested through Tenderly simulation by the builder.</a:t>
            </a:r>
          </a:p>
        </p:txBody>
      </p:sp>
      <p:sp>
        <p:nvSpPr>
          <p:cNvPr id="11" name="Public demo: MockYieldVault ">
            <a:extLst xmlns:a="http://schemas.openxmlformats.org/drawingml/2006/main">
              <a:ext uri="{FF2B5EF4-FFF2-40B4-BE49-F238E27FC236}">
                <a16:creationId xmlns:a16="http://schemas.microsoft.com/office/drawing/2014/main" id="{C84FFD5C-1C32-4ED7-9392-43F9C01B9DF8}"/>
              </a:ext>
            </a:extLst>
          </p:cNvPr>
          <p:cNvSpPr>
            <a:spLocks xmlns:a="http://schemas.openxmlformats.org/drawingml/2006/main" noGrp="1"/>
          </p:cNvSpPr>
          <p:nvPr/>
        </p:nvSpPr>
        <p:spPr>
          <a:xfrm xmlns:a="http://schemas.openxmlformats.org/drawingml/2006/main">
            <a:off x="609600" y="616267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96B66"/>
                </a:solidFill>
                <a:latin typeface="Arial"/>
                <a:ea typeface="Arial"/>
                <a:cs typeface="Arial"/>
              </a:defRPr>
            </a:pPr>
            <a:r>
              <a:rPr sz="1500" b="0">
                <a:solidFill>
                  <a:srgbClr val="696B66"/>
                </a:solidFill>
                <a:latin typeface="Arial"/>
                <a:ea typeface="Arial"/>
                <a:cs typeface="Arial"/>
              </a:rPr>
              <a:t>Public demo: MockYieldVault on Monad testnet. Yield depends on recovered funds.</a:t>
            </a:r>
          </a:p>
        </p:txBody>
      </p:sp>
    </p:spTree>
    <p:extLst>
      <p:ext uri="{BB962C8B-B14F-4D97-AF65-F5344CB8AC3E}">
        <p14:creationId xmlns:p14="http://schemas.microsoft.com/office/powerpoint/2010/main" val="5690188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25bf1da577948f2"/>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025bf1da577948f2"/>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FC094E4E-AD06-4BAA-BD56-DE30D673ED8F}"/>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Rewards for attendance</a:t>
            </a:r>
          </a:p>
        </p:txBody>
      </p:sp>
      <p:sp>
        <p:nvSpPr>
          <p:cNvPr id="3" name="Two guests commit 5 USDC eac">
            <a:extLst xmlns:a="http://schemas.openxmlformats.org/drawingml/2006/main">
              <a:ext uri="{FF2B5EF4-FFF2-40B4-BE49-F238E27FC236}">
                <a16:creationId xmlns:a16="http://schemas.microsoft.com/office/drawing/2014/main" id="{881037E4-6232-49C9-8DFE-5F83202C86B5}"/>
              </a:ext>
            </a:extLst>
          </p:cNvPr>
          <p:cNvSpPr>
            <a:spLocks xmlns:a="http://schemas.openxmlformats.org/drawingml/2006/main" noGrp="1"/>
          </p:cNvSpPr>
          <p:nvPr/>
        </p:nvSpPr>
        <p:spPr>
          <a:xfrm xmlns:a="http://schemas.openxmlformats.org/drawingml/2006/main">
            <a:off x="609600" y="169545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272622"/>
                </a:solidFill>
                <a:latin typeface="Arial"/>
                <a:ea typeface="Arial"/>
                <a:cs typeface="Arial"/>
              </a:defRPr>
            </a:pPr>
            <a:r>
              <a:rPr sz="2550" b="0">
                <a:solidFill>
                  <a:srgbClr val="272622"/>
                </a:solidFill>
                <a:latin typeface="Arial"/>
                <a:ea typeface="Arial"/>
                <a:cs typeface="Arial"/>
              </a:rPr>
              <a:t>Two guests commit 5 USDC each. One attends.</a:t>
            </a:r>
          </a:p>
        </p:txBody>
      </p:sp>
      <p:graphicFrame>
        <p:nvGraphicFramePr>
          <p:cNvPr id="11" name=""/>
          <p:cNvGraphicFramePr/>
          <p:nvPr/>
        </p:nvGraphicFramePr>
        <p:xfrm>
          <a:off xmlns:a="http://schemas.openxmlformats.org/drawingml/2006/main" x="609600" y="2714625"/>
          <a:ext xmlns:a="http://schemas.openxmlformats.org/drawingml/2006/main" cx="10972800" cy="2457450"/>
        </p:xfrm>
        <a:graphic xmlns:a="http://schemas.openxmlformats.org/drawingml/2006/main">
          <a:graphicData uri="http://schemas.openxmlformats.org/drawingml/2006/table">
            <a:tbl>
              <a:tblPr/>
              <a:tblGrid>
                <a:gridCol w="3048000"/>
                <a:gridCol w="3286125"/>
                <a:gridCol w="4638675"/>
              </a:tblGrid>
              <a:tr h="614363">
                <a:tc>
                  <a:txBody>
                    <a:bodyPr lIns="171450" tIns="114300" rIns="171450" bIns="114300"/>
                    <a:lstStyle/>
                    <a:p>
                      <a:r>
                        <a:rPr sz="1950" b="1">
                          <a:solidFill>
                            <a:srgbClr val="FFFFFF"/>
                          </a:solidFill>
                          <a:latin typeface="Arial"/>
                          <a:ea typeface="Arial"/>
                          <a:cs typeface="Arial"/>
                        </a:rPr>
                        <a:t>Party</a:t>
                      </a:r>
                    </a:p>
                  </a:txBody>
                  <a:tcPr marL="91440" marR="91440" marT="45720" marB="45720" anchor="ctr">
                    <a:solidFill>
                      <a:srgbClr val="272622"/>
                    </a:solidFill>
                  </a:tcPr>
                </a:tc>
                <a:tc>
                  <a:txBody>
                    <a:bodyPr lIns="171450" tIns="114300" rIns="171450" bIns="114300"/>
                    <a:lstStyle/>
                    <a:p>
                      <a:r>
                        <a:rPr sz="1950" b="1">
                          <a:solidFill>
                            <a:srgbClr val="FFFFFF"/>
                          </a:solidFill>
                          <a:latin typeface="Arial"/>
                          <a:ea typeface="Arial"/>
                          <a:cs typeface="Arial"/>
                        </a:rPr>
                        <a:t>Attendance</a:t>
                      </a:r>
                    </a:p>
                  </a:txBody>
                  <a:tcPr marL="91440" marR="91440" marT="45720" marB="45720" anchor="ctr">
                    <a:solidFill>
                      <a:srgbClr val="272622"/>
                    </a:solidFill>
                  </a:tcPr>
                </a:tc>
                <a:tc>
                  <a:txBody>
                    <a:bodyPr lIns="171450" tIns="114300" rIns="171450" bIns="114300"/>
                    <a:lstStyle/>
                    <a:p>
                      <a:r>
                        <a:rPr sz="1950" b="1">
                          <a:solidFill>
                            <a:srgbClr val="FFFFFF"/>
                          </a:solidFill>
                          <a:latin typeface="Arial"/>
                          <a:ea typeface="Arial"/>
                          <a:cs typeface="Arial"/>
                        </a:rPr>
                        <a:t>Allocation</a:t>
                      </a:r>
                    </a:p>
                  </a:txBody>
                  <a:tcPr marL="91440" marR="91440" marT="45720" marB="45720" anchor="ctr">
                    <a:solidFill>
                      <a:srgbClr val="272622"/>
                    </a:solidFill>
                  </a:tcPr>
                </a:tc>
              </a:tr>
              <a:tr h="614363">
                <a:tc>
                  <a:txBody>
                    <a:bodyPr lIns="171450" tIns="114300" rIns="171450" bIns="114300"/>
                    <a:lstStyle/>
                    <a:p>
                      <a:r>
                        <a:rPr sz="2250" b="0">
                          <a:solidFill>
                            <a:srgbClr val="272622"/>
                          </a:solidFill>
                          <a:latin typeface="Arial"/>
                          <a:ea typeface="Arial"/>
                          <a:cs typeface="Arial"/>
                        </a:rPr>
                        <a:t>Guest A</a:t>
                      </a:r>
                    </a:p>
                  </a:txBody>
                  <a:tcPr marL="91440" marR="91440" marT="45720" marB="45720" anchor="ctr">
                    <a:solidFill>
                      <a:srgbClr val="E6EDE7"/>
                    </a:solidFill>
                  </a:tcPr>
                </a:tc>
                <a:tc>
                  <a:txBody>
                    <a:bodyPr lIns="171450" tIns="114300" rIns="171450" bIns="114300"/>
                    <a:lstStyle/>
                    <a:p>
                      <a:r>
                        <a:rPr sz="2250" b="0">
                          <a:solidFill>
                            <a:srgbClr val="272622"/>
                          </a:solidFill>
                          <a:latin typeface="Arial"/>
                          <a:ea typeface="Arial"/>
                          <a:cs typeface="Arial"/>
                        </a:rPr>
                        <a:t>Attends</a:t>
                      </a:r>
                    </a:p>
                  </a:txBody>
                  <a:tcPr marL="91440" marR="91440" marT="45720" marB="45720" anchor="ctr">
                    <a:solidFill>
                      <a:srgbClr val="E6EDE7"/>
                    </a:solidFill>
                  </a:tcPr>
                </a:tc>
                <a:tc>
                  <a:txBody>
                    <a:bodyPr lIns="171450" tIns="114300" rIns="171450" bIns="114300"/>
                    <a:lstStyle/>
                    <a:p>
                      <a:r>
                        <a:rPr sz="2250" b="1">
                          <a:solidFill>
                            <a:srgbClr val="272622"/>
                          </a:solidFill>
                          <a:latin typeface="Arial"/>
                          <a:ea typeface="Arial"/>
                          <a:cs typeface="Arial"/>
                        </a:rPr>
                        <a:t>7.5 USDC + Y</a:t>
                      </a:r>
                    </a:p>
                  </a:txBody>
                  <a:tcPr marL="91440" marR="91440" marT="45720" marB="45720" anchor="ctr">
                    <a:solidFill>
                      <a:srgbClr val="E6EDE7"/>
                    </a:solidFill>
                  </a:tcPr>
                </a:tc>
              </a:tr>
              <a:tr h="614363">
                <a:tc>
                  <a:txBody>
                    <a:bodyPr lIns="171450" tIns="114300" rIns="171450" bIns="114300"/>
                    <a:lstStyle/>
                    <a:p>
                      <a:r>
                        <a:rPr sz="2250" b="0">
                          <a:solidFill>
                            <a:srgbClr val="272622"/>
                          </a:solidFill>
                          <a:latin typeface="Arial"/>
                          <a:ea typeface="Arial"/>
                          <a:cs typeface="Arial"/>
                        </a:rPr>
                        <a:t>Guest B</a:t>
                      </a:r>
                    </a:p>
                  </a:txBody>
                  <a:tcPr marL="91440" marR="91440" marT="45720" marB="45720" anchor="ctr">
                    <a:solidFill>
                      <a:srgbClr val="FFFFFF"/>
                    </a:solidFill>
                  </a:tcPr>
                </a:tc>
                <a:tc>
                  <a:txBody>
                    <a:bodyPr lIns="171450" tIns="114300" rIns="171450" bIns="114300"/>
                    <a:lstStyle/>
                    <a:p>
                      <a:r>
                        <a:rPr sz="2250" b="0">
                          <a:solidFill>
                            <a:srgbClr val="272622"/>
                          </a:solidFill>
                          <a:latin typeface="Arial"/>
                          <a:ea typeface="Arial"/>
                          <a:cs typeface="Arial"/>
                        </a:rPr>
                        <a:t>No-show</a:t>
                      </a:r>
                    </a:p>
                  </a:txBody>
                  <a:tcPr marL="91440" marR="91440" marT="45720" marB="45720" anchor="ctr">
                    <a:solidFill>
                      <a:srgbClr val="FFFFFF"/>
                    </a:solidFill>
                  </a:tcPr>
                </a:tc>
                <a:tc>
                  <a:txBody>
                    <a:bodyPr lIns="171450" tIns="114300" rIns="171450" bIns="114300"/>
                    <a:lstStyle/>
                    <a:p>
                      <a:r>
                        <a:rPr sz="2250" b="1">
                          <a:solidFill>
                            <a:srgbClr val="272622"/>
                          </a:solidFill>
                          <a:latin typeface="Arial"/>
                          <a:ea typeface="Arial"/>
                          <a:cs typeface="Arial"/>
                        </a:rPr>
                        <a:t>0 USDC</a:t>
                      </a:r>
                    </a:p>
                  </a:txBody>
                  <a:tcPr marL="91440" marR="91440" marT="45720" marB="45720" anchor="ctr">
                    <a:solidFill>
                      <a:srgbClr val="FFFFFF"/>
                    </a:solidFill>
                  </a:tcPr>
                </a:tc>
              </a:tr>
              <a:tr h="614363">
                <a:tc>
                  <a:txBody>
                    <a:bodyPr lIns="171450" tIns="114300" rIns="171450" bIns="114300"/>
                    <a:lstStyle/>
                    <a:p>
                      <a:r>
                        <a:rPr sz="2250" b="0">
                          <a:solidFill>
                            <a:srgbClr val="272622"/>
                          </a:solidFill>
                          <a:latin typeface="Arial"/>
                          <a:ea typeface="Arial"/>
                          <a:cs typeface="Arial"/>
                        </a:rPr>
                        <a:t>CommitPass</a:t>
                      </a:r>
                    </a:p>
                  </a:txBody>
                  <a:tcPr marL="91440" marR="91440" marT="45720" marB="45720" anchor="ctr">
                    <a:solidFill>
                      <a:srgbClr val="FFFFFF"/>
                    </a:solidFill>
                  </a:tcPr>
                </a:tc>
                <a:tc>
                  <a:txBody>
                    <a:bodyPr lIns="171450" tIns="114300" rIns="171450" bIns="114300"/>
                    <a:lstStyle/>
                    <a:p>
                      <a:r>
                        <a:rPr sz="2250" b="0">
                          <a:solidFill>
                            <a:srgbClr val="272622"/>
                          </a:solidFill>
                          <a:latin typeface="Arial"/>
                          <a:ea typeface="Arial"/>
                          <a:cs typeface="Arial"/>
                        </a:rPr>
                        <a:t>Protocol share</a:t>
                      </a:r>
                    </a:p>
                  </a:txBody>
                  <a:tcPr marL="91440" marR="91440" marT="45720" marB="45720" anchor="ctr">
                    <a:solidFill>
                      <a:srgbClr val="FFFFFF"/>
                    </a:solidFill>
                  </a:tcPr>
                </a:tc>
                <a:tc>
                  <a:txBody>
                    <a:bodyPr lIns="171450" tIns="114300" rIns="171450" bIns="114300"/>
                    <a:lstStyle/>
                    <a:p>
                      <a:r>
                        <a:rPr sz="2250" b="1">
                          <a:solidFill>
                            <a:srgbClr val="272622"/>
                          </a:solidFill>
                          <a:latin typeface="Arial"/>
                          <a:ea typeface="Arial"/>
                          <a:cs typeface="Arial"/>
                        </a:rPr>
                        <a:t>2.5 USDC</a:t>
                      </a:r>
                    </a:p>
                  </a:txBody>
                  <a:tcPr marL="91440" marR="91440" marT="45720" marB="45720" anchor="ctr">
                    <a:solidFill>
                      <a:srgbClr val="FFFFFF"/>
                    </a:solidFill>
                  </a:tcPr>
                </a:tc>
              </a:tr>
            </a:tbl>
          </a:graphicData>
        </a:graphic>
      </p:graphicFrame>
      <p:sp>
        <p:nvSpPr>
          <p:cNvPr id="5" name="5 USDC principal + 2.5 USDC ">
            <a:extLst xmlns:a="http://schemas.openxmlformats.org/drawingml/2006/main">
              <a:ext uri="{FF2B5EF4-FFF2-40B4-BE49-F238E27FC236}">
                <a16:creationId xmlns:a16="http://schemas.microsoft.com/office/drawing/2014/main" id="{C0C3311B-1483-44F6-BF77-29788731F775}"/>
              </a:ext>
            </a:extLst>
          </p:cNvPr>
          <p:cNvSpPr>
            <a:spLocks xmlns:a="http://schemas.openxmlformats.org/drawingml/2006/main" noGrp="1"/>
          </p:cNvSpPr>
          <p:nvPr/>
        </p:nvSpPr>
        <p:spPr>
          <a:xfrm xmlns:a="http://schemas.openxmlformats.org/drawingml/2006/main">
            <a:off x="609600" y="542925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15C45"/>
                </a:solidFill>
                <a:latin typeface="Arial"/>
                <a:ea typeface="Arial"/>
                <a:cs typeface="Arial"/>
              </a:defRPr>
            </a:pPr>
            <a:r>
              <a:rPr sz="2175" b="1">
                <a:solidFill>
                  <a:srgbClr val="315C45"/>
                </a:solidFill>
                <a:latin typeface="Arial"/>
                <a:ea typeface="Arial"/>
                <a:cs typeface="Arial"/>
              </a:rPr>
              <a:t>5 USDC principal + 2.5 USDC no-show share + recovered yield</a:t>
            </a:r>
          </a:p>
        </p:txBody>
      </p:sp>
      <p:sp>
        <p:nvSpPr>
          <p:cNvPr id="6" name="Y = any recovered yield. Exa">
            <a:extLst xmlns:a="http://schemas.openxmlformats.org/drawingml/2006/main">
              <a:ext uri="{FF2B5EF4-FFF2-40B4-BE49-F238E27FC236}">
                <a16:creationId xmlns:a16="http://schemas.microsoft.com/office/drawing/2014/main" id="{B7FA4B2C-050E-45A8-9A44-CD703F33EDAC}"/>
              </a:ext>
            </a:extLst>
          </p:cNvPr>
          <p:cNvSpPr>
            <a:spLocks xmlns:a="http://schemas.openxmlformats.org/drawingml/2006/main" noGrp="1"/>
          </p:cNvSpPr>
          <p:nvPr/>
        </p:nvSpPr>
        <p:spPr>
          <a:xfrm xmlns:a="http://schemas.openxmlformats.org/drawingml/2006/main">
            <a:off x="609600" y="60102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96B66"/>
                </a:solidFill>
                <a:latin typeface="Arial"/>
                <a:ea typeface="Arial"/>
                <a:cs typeface="Arial"/>
              </a:defRPr>
            </a:pPr>
            <a:r>
              <a:rPr sz="1350" b="0">
                <a:solidFill>
                  <a:srgbClr val="696B66"/>
                </a:solidFill>
                <a:latin typeface="Arial"/>
                <a:ea typeface="Arial"/>
                <a:cs typeface="Arial"/>
              </a:rPr>
              <a:t>Y = any recovered yield. Example assumes normal settlement with one attendee and successful redemption.</a:t>
            </a:r>
          </a:p>
        </p:txBody>
      </p:sp>
      <p:sp>
        <p:nvSpPr>
          <p:cNvPr id="7" name="Host cancellation and zero-a">
            <a:extLst xmlns:a="http://schemas.openxmlformats.org/drawingml/2006/main">
              <a:ext uri="{FF2B5EF4-FFF2-40B4-BE49-F238E27FC236}">
                <a16:creationId xmlns:a16="http://schemas.microsoft.com/office/drawing/2014/main" id="{A6494787-F961-4807-9D74-600010F534BB}"/>
              </a:ext>
            </a:extLst>
          </p:cNvPr>
          <p:cNvSpPr>
            <a:spLocks xmlns:a="http://schemas.openxmlformats.org/drawingml/2006/main" noGrp="1"/>
          </p:cNvSpPr>
          <p:nvPr/>
        </p:nvSpPr>
        <p:spPr>
          <a:xfrm xmlns:a="http://schemas.openxmlformats.org/drawingml/2006/main">
            <a:off x="609600" y="63817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96B66"/>
                </a:solidFill>
                <a:latin typeface="Arial"/>
                <a:ea typeface="Arial"/>
                <a:cs typeface="Arial"/>
              </a:defRPr>
            </a:pPr>
            <a:r>
              <a:rPr sz="1350" b="0">
                <a:solidFill>
                  <a:srgbClr val="696B66"/>
                </a:solidFill>
                <a:latin typeface="Arial"/>
                <a:ea typeface="Arial"/>
                <a:cs typeface="Arial"/>
              </a:rPr>
              <a:t>Host cancellation and zero-attendance events follow separate refund rules.</a:t>
            </a:r>
          </a:p>
        </p:txBody>
      </p:sp>
    </p:spTree>
    <p:extLst>
      <p:ext uri="{BB962C8B-B14F-4D97-AF65-F5344CB8AC3E}">
        <p14:creationId xmlns:p14="http://schemas.microsoft.com/office/powerpoint/2010/main" val="994031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383f8a7f5934fe0"/>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2383f8a7f5934fe0"/>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AB607320-F1E2-4568-91C1-CFDFF6546828}"/>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Business model</a:t>
            </a:r>
          </a:p>
        </p:txBody>
      </p:sp>
      <p:sp>
        <p:nvSpPr>
          <p:cNvPr id="3" name="Current protocol mechanism">
            <a:extLst xmlns:a="http://schemas.openxmlformats.org/drawingml/2006/main">
              <a:ext uri="{FF2B5EF4-FFF2-40B4-BE49-F238E27FC236}">
                <a16:creationId xmlns:a16="http://schemas.microsoft.com/office/drawing/2014/main" id="{8B0C4D03-9596-4C0C-985A-CB1A0A601956}"/>
              </a:ext>
            </a:extLst>
          </p:cNvPr>
          <p:cNvSpPr>
            <a:spLocks xmlns:a="http://schemas.openxmlformats.org/drawingml/2006/main" noGrp="1"/>
          </p:cNvSpPr>
          <p:nvPr/>
        </p:nvSpPr>
        <p:spPr>
          <a:xfrm xmlns:a="http://schemas.openxmlformats.org/drawingml/2006/main">
            <a:off x="609600" y="1790700"/>
            <a:ext cx="10734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96B66"/>
                </a:solidFill>
                <a:latin typeface="Arial"/>
                <a:ea typeface="Arial"/>
                <a:cs typeface="Arial"/>
              </a:defRPr>
            </a:pPr>
            <a:r>
              <a:rPr sz="2175" b="0">
                <a:solidFill>
                  <a:srgbClr val="696B66"/>
                </a:solidFill>
                <a:latin typeface="Arial"/>
                <a:ea typeface="Arial"/>
                <a:cs typeface="Arial"/>
              </a:rPr>
              <a:t>Current protocol mechanism</a:t>
            </a:r>
          </a:p>
        </p:txBody>
      </p:sp>
      <p:sp>
        <p:nvSpPr>
          <p:cNvPr id="4" name="50%">
            <a:extLst xmlns:a="http://schemas.openxmlformats.org/drawingml/2006/main">
              <a:ext uri="{FF2B5EF4-FFF2-40B4-BE49-F238E27FC236}">
                <a16:creationId xmlns:a16="http://schemas.microsoft.com/office/drawing/2014/main" id="{69ADF91B-A511-47A3-AA34-17C3B3EB74E4}"/>
              </a:ext>
            </a:extLst>
          </p:cNvPr>
          <p:cNvSpPr>
            <a:spLocks xmlns:a="http://schemas.openxmlformats.org/drawingml/2006/main" noGrp="1"/>
          </p:cNvSpPr>
          <p:nvPr/>
        </p:nvSpPr>
        <p:spPr>
          <a:xfrm xmlns:a="http://schemas.openxmlformats.org/drawingml/2006/main">
            <a:off x="609600" y="2533650"/>
            <a:ext cx="39624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00" b="1">
                <a:solidFill>
                  <a:srgbClr val="B9462D"/>
                </a:solidFill>
                <a:latin typeface="Arial"/>
                <a:ea typeface="Arial"/>
                <a:cs typeface="Arial"/>
              </a:defRPr>
            </a:pPr>
            <a:r>
              <a:rPr sz="9600" b="1">
                <a:solidFill>
                  <a:srgbClr val="B9462D"/>
                </a:solidFill>
                <a:latin typeface="Arial"/>
                <a:ea typeface="Arial"/>
                <a:cs typeface="Arial"/>
              </a:rPr>
              <a:t>50%</a:t>
            </a:r>
          </a:p>
        </p:txBody>
      </p:sp>
      <p:sp>
        <p:nvSpPr>
          <p:cNvPr id="5" name="of forfeited no-show princip">
            <a:extLst xmlns:a="http://schemas.openxmlformats.org/drawingml/2006/main">
              <a:ext uri="{FF2B5EF4-FFF2-40B4-BE49-F238E27FC236}">
                <a16:creationId xmlns:a16="http://schemas.microsoft.com/office/drawing/2014/main" id="{39538A2A-C410-482F-8BEA-0DEB4221E7F1}"/>
              </a:ext>
            </a:extLst>
          </p:cNvPr>
          <p:cNvSpPr>
            <a:spLocks xmlns:a="http://schemas.openxmlformats.org/drawingml/2006/main" noGrp="1"/>
          </p:cNvSpPr>
          <p:nvPr/>
        </p:nvSpPr>
        <p:spPr>
          <a:xfrm xmlns:a="http://schemas.openxmlformats.org/drawingml/2006/main">
            <a:off x="4867275" y="2657475"/>
            <a:ext cx="66960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72622"/>
                </a:solidFill>
                <a:latin typeface="Arial"/>
                <a:ea typeface="Arial"/>
                <a:cs typeface="Arial"/>
              </a:defRPr>
            </a:pPr>
            <a:r>
              <a:rPr sz="2775" b="1">
                <a:solidFill>
                  <a:srgbClr val="272622"/>
                </a:solidFill>
                <a:latin typeface="Arial"/>
                <a:ea typeface="Arial"/>
                <a:cs typeface="Arial"/>
              </a:rPr>
              <a:t>of forfeited no-show principal</a:t>
            </a:r>
          </a:p>
          <a:p xmlns:a="http://schemas.openxmlformats.org/drawingml/2006/main">
            <a:pPr algn="l">
              <a:defRPr sz="2775" b="1">
                <a:solidFill>
                  <a:srgbClr val="272622"/>
                </a:solidFill>
                <a:latin typeface="Arial"/>
                <a:ea typeface="Arial"/>
                <a:cs typeface="Arial"/>
              </a:defRPr>
            </a:pPr>
            <a:r>
              <a:rPr sz="2775" b="1">
                <a:solidFill>
                  <a:srgbClr val="272622"/>
                </a:solidFill>
                <a:latin typeface="Arial"/>
                <a:ea typeface="Arial"/>
                <a:cs typeface="Arial"/>
              </a:rPr>
              <a:t>goes to CommitPass</a:t>
            </a:r>
          </a:p>
        </p:txBody>
      </p:sp>
      <p:sp>
        <p:nvSpPr>
          <p:cNvPr id="6" name="Planned recurring revenue">
            <a:extLst xmlns:a="http://schemas.openxmlformats.org/drawingml/2006/main">
              <a:ext uri="{FF2B5EF4-FFF2-40B4-BE49-F238E27FC236}">
                <a16:creationId xmlns:a16="http://schemas.microsoft.com/office/drawing/2014/main" id="{38B45737-4CC2-4BEB-B498-46F2EB724E9C}"/>
              </a:ext>
            </a:extLst>
          </p:cNvPr>
          <p:cNvSpPr>
            <a:spLocks xmlns:a="http://schemas.openxmlformats.org/drawingml/2006/main" noGrp="1"/>
          </p:cNvSpPr>
          <p:nvPr/>
        </p:nvSpPr>
        <p:spPr>
          <a:xfrm xmlns:a="http://schemas.openxmlformats.org/drawingml/2006/main">
            <a:off x="609600" y="4476750"/>
            <a:ext cx="10734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96B66"/>
                </a:solidFill>
                <a:latin typeface="Arial"/>
                <a:ea typeface="Arial"/>
                <a:cs typeface="Arial"/>
              </a:defRPr>
            </a:pPr>
            <a:r>
              <a:rPr sz="2175" b="0">
                <a:solidFill>
                  <a:srgbClr val="696B66"/>
                </a:solidFill>
                <a:latin typeface="Arial"/>
                <a:ea typeface="Arial"/>
                <a:cs typeface="Arial"/>
              </a:rPr>
              <a:t>Planned recurring revenue</a:t>
            </a:r>
          </a:p>
        </p:txBody>
      </p:sp>
      <p:sp>
        <p:nvSpPr>
          <p:cNvPr id="7" name="Organizer tools for repeat e">
            <a:extLst xmlns:a="http://schemas.openxmlformats.org/drawingml/2006/main">
              <a:ext uri="{FF2B5EF4-FFF2-40B4-BE49-F238E27FC236}">
                <a16:creationId xmlns:a16="http://schemas.microsoft.com/office/drawing/2014/main" id="{F0EC1B0A-2D86-4A99-9301-C70F2787CF8D}"/>
              </a:ext>
            </a:extLst>
          </p:cNvPr>
          <p:cNvSpPr>
            <a:spLocks xmlns:a="http://schemas.openxmlformats.org/drawingml/2006/main" noGrp="1"/>
          </p:cNvSpPr>
          <p:nvPr/>
        </p:nvSpPr>
        <p:spPr>
          <a:xfrm xmlns:a="http://schemas.openxmlformats.org/drawingml/2006/main">
            <a:off x="609600" y="51339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272622"/>
                </a:solidFill>
                <a:latin typeface="Arial"/>
                <a:ea typeface="Arial"/>
                <a:cs typeface="Arial"/>
              </a:defRPr>
            </a:pPr>
            <a:r>
              <a:rPr sz="2850" b="1">
                <a:solidFill>
                  <a:srgbClr val="272622"/>
                </a:solidFill>
                <a:latin typeface="Arial"/>
                <a:ea typeface="Arial"/>
                <a:cs typeface="Arial"/>
              </a:rPr>
              <a:t>Organizer tools for repeat events</a:t>
            </a:r>
          </a:p>
        </p:txBody>
      </p:sp>
      <p:sp>
        <p:nvSpPr>
          <p:cNvPr id="8" name="Attendance analytics across ">
            <a:extLst xmlns:a="http://schemas.openxmlformats.org/drawingml/2006/main">
              <a:ext uri="{FF2B5EF4-FFF2-40B4-BE49-F238E27FC236}">
                <a16:creationId xmlns:a16="http://schemas.microsoft.com/office/drawing/2014/main" id="{BBAB5DF3-08EE-41F6-A1BD-E7E466DDC896}"/>
              </a:ext>
            </a:extLst>
          </p:cNvPr>
          <p:cNvSpPr>
            <a:spLocks xmlns:a="http://schemas.openxmlformats.org/drawingml/2006/main" noGrp="1"/>
          </p:cNvSpPr>
          <p:nvPr/>
        </p:nvSpPr>
        <p:spPr>
          <a:xfrm xmlns:a="http://schemas.openxmlformats.org/drawingml/2006/main">
            <a:off x="609600" y="58769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96B66"/>
                </a:solidFill>
                <a:latin typeface="Arial"/>
                <a:ea typeface="Arial"/>
                <a:cs typeface="Arial"/>
              </a:defRPr>
            </a:pPr>
            <a:r>
              <a:rPr sz="1725" b="0">
                <a:solidFill>
                  <a:srgbClr val="696B66"/>
                </a:solidFill>
                <a:latin typeface="Arial"/>
                <a:ea typeface="Arial"/>
                <a:cs typeface="Arial"/>
              </a:rPr>
              <a:t>Attendance analytics across events. Pricing and willingness to pay will be tested in pilots.</a:t>
            </a:r>
          </a:p>
        </p:txBody>
      </p:sp>
    </p:spTree>
    <p:extLst>
      <p:ext uri="{BB962C8B-B14F-4D97-AF65-F5344CB8AC3E}">
        <p14:creationId xmlns:p14="http://schemas.microsoft.com/office/powerpoint/2010/main" val="175139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3e3ef3d7ee34c4b"/>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93e3ef3d7ee34c4b"/>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96860D7D-35F5-47E7-9F8B-AFBBF6780C16}"/>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Roadmap</a:t>
            </a:r>
          </a:p>
        </p:txBody>
      </p:sp>
      <p:sp>
        <p:nvSpPr>
          <p:cNvPr id="3" name="Now">
            <a:extLst xmlns:a="http://schemas.openxmlformats.org/drawingml/2006/main">
              <a:ext uri="{FF2B5EF4-FFF2-40B4-BE49-F238E27FC236}">
                <a16:creationId xmlns:a16="http://schemas.microsoft.com/office/drawing/2014/main" id="{DC6CB136-8C8C-4F2F-A055-629D2DDBD34D}"/>
              </a:ext>
            </a:extLst>
          </p:cNvPr>
          <p:cNvSpPr>
            <a:spLocks xmlns:a="http://schemas.openxmlformats.org/drawingml/2006/main" noGrp="1"/>
          </p:cNvSpPr>
          <p:nvPr/>
        </p:nvSpPr>
        <p:spPr>
          <a:xfrm xmlns:a="http://schemas.openxmlformats.org/drawingml/2006/main">
            <a:off x="609600" y="18669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B9462D"/>
                </a:solidFill>
                <a:latin typeface="Arial"/>
                <a:ea typeface="Arial"/>
                <a:cs typeface="Arial"/>
              </a:defRPr>
            </a:pPr>
            <a:r>
              <a:rPr sz="3675" b="1">
                <a:solidFill>
                  <a:srgbClr val="B9462D"/>
                </a:solidFill>
                <a:latin typeface="Arial"/>
                <a:ea typeface="Arial"/>
                <a:cs typeface="Arial"/>
              </a:rPr>
              <a:t>Now</a:t>
            </a:r>
          </a:p>
        </p:txBody>
      </p:sp>
      <p:sp>
        <p:nvSpPr>
          <p:cNvPr id="4" name="Working testnet demo">
            <a:extLst xmlns:a="http://schemas.openxmlformats.org/drawingml/2006/main">
              <a:ext uri="{FF2B5EF4-FFF2-40B4-BE49-F238E27FC236}">
                <a16:creationId xmlns:a16="http://schemas.microsoft.com/office/drawing/2014/main" id="{11A143E1-2F7C-4080-A05F-A7C222DDFF95}"/>
              </a:ext>
            </a:extLst>
          </p:cNvPr>
          <p:cNvSpPr>
            <a:spLocks xmlns:a="http://schemas.openxmlformats.org/drawingml/2006/main" noGrp="1"/>
          </p:cNvSpPr>
          <p:nvPr/>
        </p:nvSpPr>
        <p:spPr>
          <a:xfrm xmlns:a="http://schemas.openxmlformats.org/drawingml/2006/main">
            <a:off x="609600" y="2762250"/>
            <a:ext cx="314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72622"/>
                </a:solidFill>
                <a:latin typeface="Arial"/>
                <a:ea typeface="Arial"/>
                <a:cs typeface="Arial"/>
              </a:defRPr>
            </a:pPr>
            <a:r>
              <a:rPr sz="2400" b="1">
                <a:solidFill>
                  <a:srgbClr val="272622"/>
                </a:solidFill>
                <a:latin typeface="Arial"/>
                <a:ea typeface="Arial"/>
                <a:cs typeface="Arial"/>
              </a:rPr>
              <a:t>Working testnet demo</a:t>
            </a:r>
          </a:p>
        </p:txBody>
      </p:sp>
      <p:sp>
        <p:nvSpPr>
          <p:cNvPr id="5" name="Reservation, QR check-in,&#10;se">
            <a:extLst xmlns:a="http://schemas.openxmlformats.org/drawingml/2006/main">
              <a:ext uri="{FF2B5EF4-FFF2-40B4-BE49-F238E27FC236}">
                <a16:creationId xmlns:a16="http://schemas.microsoft.com/office/drawing/2014/main" id="{F2160D92-0ADD-4078-BB21-D3B21313AE87}"/>
              </a:ext>
            </a:extLst>
          </p:cNvPr>
          <p:cNvSpPr>
            <a:spLocks xmlns:a="http://schemas.openxmlformats.org/drawingml/2006/main" noGrp="1"/>
          </p:cNvSpPr>
          <p:nvPr/>
        </p:nvSpPr>
        <p:spPr>
          <a:xfrm xmlns:a="http://schemas.openxmlformats.org/drawingml/2006/main">
            <a:off x="609600" y="3905250"/>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Reservation, QR check-in,</a:t>
            </a:r>
          </a:p>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settlement and claim</a:t>
            </a:r>
          </a:p>
        </p:txBody>
      </p:sp>
      <p:sp>
        <p:nvSpPr>
          <p:cNvPr id="6" name="Next">
            <a:extLst xmlns:a="http://schemas.openxmlformats.org/drawingml/2006/main">
              <a:ext uri="{FF2B5EF4-FFF2-40B4-BE49-F238E27FC236}">
                <a16:creationId xmlns:a16="http://schemas.microsoft.com/office/drawing/2014/main" id="{C56E7431-3A2F-4605-AD1F-2AB05F383B48}"/>
              </a:ext>
            </a:extLst>
          </p:cNvPr>
          <p:cNvSpPr>
            <a:spLocks xmlns:a="http://schemas.openxmlformats.org/drawingml/2006/main" noGrp="1"/>
          </p:cNvSpPr>
          <p:nvPr/>
        </p:nvSpPr>
        <p:spPr>
          <a:xfrm xmlns:a="http://schemas.openxmlformats.org/drawingml/2006/main">
            <a:off x="4505325" y="1866900"/>
            <a:ext cx="3162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B9462D"/>
                </a:solidFill>
                <a:latin typeface="Arial"/>
                <a:ea typeface="Arial"/>
                <a:cs typeface="Arial"/>
              </a:defRPr>
            </a:pPr>
            <a:r>
              <a:rPr sz="3675" b="1">
                <a:solidFill>
                  <a:srgbClr val="B9462D"/>
                </a:solidFill>
                <a:latin typeface="Arial"/>
                <a:ea typeface="Arial"/>
                <a:cs typeface="Arial"/>
              </a:rPr>
              <a:t>Next</a:t>
            </a:r>
          </a:p>
        </p:txBody>
      </p:sp>
      <p:sp>
        <p:nvSpPr>
          <p:cNvPr id="7" name="Community pilots">
            <a:extLst xmlns:a="http://schemas.openxmlformats.org/drawingml/2006/main">
              <a:ext uri="{FF2B5EF4-FFF2-40B4-BE49-F238E27FC236}">
                <a16:creationId xmlns:a16="http://schemas.microsoft.com/office/drawing/2014/main" id="{C833F424-4F6D-4D2B-BC86-FC16E52B3565}"/>
              </a:ext>
            </a:extLst>
          </p:cNvPr>
          <p:cNvSpPr>
            <a:spLocks xmlns:a="http://schemas.openxmlformats.org/drawingml/2006/main" noGrp="1"/>
          </p:cNvSpPr>
          <p:nvPr/>
        </p:nvSpPr>
        <p:spPr>
          <a:xfrm xmlns:a="http://schemas.openxmlformats.org/drawingml/2006/main">
            <a:off x="4505325" y="2762250"/>
            <a:ext cx="31623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72622"/>
                </a:solidFill>
                <a:latin typeface="Arial"/>
                <a:ea typeface="Arial"/>
                <a:cs typeface="Arial"/>
              </a:defRPr>
            </a:pPr>
            <a:r>
              <a:rPr sz="2400" b="1">
                <a:solidFill>
                  <a:srgbClr val="272622"/>
                </a:solidFill>
                <a:latin typeface="Arial"/>
                <a:ea typeface="Arial"/>
                <a:cs typeface="Arial"/>
              </a:rPr>
              <a:t>Community pilots</a:t>
            </a:r>
          </a:p>
        </p:txBody>
      </p:sp>
      <p:sp>
        <p:nvSpPr>
          <p:cNvPr id="8" name="3–5 organizers&#10;5–10 pilot ev">
            <a:extLst xmlns:a="http://schemas.openxmlformats.org/drawingml/2006/main">
              <a:ext uri="{FF2B5EF4-FFF2-40B4-BE49-F238E27FC236}">
                <a16:creationId xmlns:a16="http://schemas.microsoft.com/office/drawing/2014/main" id="{EFDF20AE-91E0-48CD-9CFF-89E142733EC8}"/>
              </a:ext>
            </a:extLst>
          </p:cNvPr>
          <p:cNvSpPr>
            <a:spLocks xmlns:a="http://schemas.openxmlformats.org/drawingml/2006/main" noGrp="1"/>
          </p:cNvSpPr>
          <p:nvPr/>
        </p:nvSpPr>
        <p:spPr>
          <a:xfrm xmlns:a="http://schemas.openxmlformats.org/drawingml/2006/main">
            <a:off x="4505325" y="3905250"/>
            <a:ext cx="31623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72622"/>
                </a:solidFill>
                <a:latin typeface="Arial"/>
                <a:ea typeface="Arial"/>
                <a:cs typeface="Arial"/>
              </a:defRPr>
            </a:pPr>
            <a:r>
              <a:rPr sz="2325" b="0">
                <a:solidFill>
                  <a:srgbClr val="272622"/>
                </a:solidFill>
                <a:latin typeface="Arial"/>
                <a:ea typeface="Arial"/>
                <a:cs typeface="Arial"/>
              </a:rPr>
              <a:t>3–5 organizers</a:t>
            </a:r>
          </a:p>
          <a:p xmlns:a="http://schemas.openxmlformats.org/drawingml/2006/main">
            <a:pPr algn="l">
              <a:defRPr sz="2325" b="0">
                <a:solidFill>
                  <a:srgbClr val="272622"/>
                </a:solidFill>
                <a:latin typeface="Arial"/>
                <a:ea typeface="Arial"/>
                <a:cs typeface="Arial"/>
              </a:defRPr>
            </a:pPr>
            <a:r>
              <a:rPr sz="2325" b="0">
                <a:solidFill>
                  <a:srgbClr val="272622"/>
                </a:solidFill>
                <a:latin typeface="Arial"/>
                <a:ea typeface="Arial"/>
                <a:cs typeface="Arial"/>
              </a:rPr>
              <a:t>5–10 pilot events</a:t>
            </a:r>
          </a:p>
        </p:txBody>
      </p:sp>
      <p:sp>
        <p:nvSpPr>
          <p:cNvPr id="9" name="Later">
            <a:extLst xmlns:a="http://schemas.openxmlformats.org/drawingml/2006/main">
              <a:ext uri="{FF2B5EF4-FFF2-40B4-BE49-F238E27FC236}">
                <a16:creationId xmlns:a16="http://schemas.microsoft.com/office/drawing/2014/main" id="{E33F6CB1-078A-4622-B043-3C2A3188E74D}"/>
              </a:ext>
            </a:extLst>
          </p:cNvPr>
          <p:cNvSpPr>
            <a:spLocks xmlns:a="http://schemas.openxmlformats.org/drawingml/2006/main" noGrp="1"/>
          </p:cNvSpPr>
          <p:nvPr/>
        </p:nvSpPr>
        <p:spPr>
          <a:xfrm xmlns:a="http://schemas.openxmlformats.org/drawingml/2006/main">
            <a:off x="8372475" y="18669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B9462D"/>
                </a:solidFill>
                <a:latin typeface="Arial"/>
                <a:ea typeface="Arial"/>
                <a:cs typeface="Arial"/>
              </a:defRPr>
            </a:pPr>
            <a:r>
              <a:rPr sz="3675" b="1">
                <a:solidFill>
                  <a:srgbClr val="B9462D"/>
                </a:solidFill>
                <a:latin typeface="Arial"/>
                <a:ea typeface="Arial"/>
                <a:cs typeface="Arial"/>
              </a:rPr>
              <a:t>Later</a:t>
            </a:r>
          </a:p>
        </p:txBody>
      </p:sp>
      <p:sp>
        <p:nvSpPr>
          <p:cNvPr id="10" name="Production readiness">
            <a:extLst xmlns:a="http://schemas.openxmlformats.org/drawingml/2006/main">
              <a:ext uri="{FF2B5EF4-FFF2-40B4-BE49-F238E27FC236}">
                <a16:creationId xmlns:a16="http://schemas.microsoft.com/office/drawing/2014/main" id="{0BAA4F79-A72A-4088-95C4-57ED28DCF383}"/>
              </a:ext>
            </a:extLst>
          </p:cNvPr>
          <p:cNvSpPr>
            <a:spLocks xmlns:a="http://schemas.openxmlformats.org/drawingml/2006/main" noGrp="1"/>
          </p:cNvSpPr>
          <p:nvPr/>
        </p:nvSpPr>
        <p:spPr>
          <a:xfrm xmlns:a="http://schemas.openxmlformats.org/drawingml/2006/main">
            <a:off x="8372475" y="2762250"/>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72622"/>
                </a:solidFill>
                <a:latin typeface="Arial"/>
                <a:ea typeface="Arial"/>
                <a:cs typeface="Arial"/>
              </a:defRPr>
            </a:pPr>
            <a:r>
              <a:rPr sz="2400" b="1">
                <a:solidFill>
                  <a:srgbClr val="272622"/>
                </a:solidFill>
                <a:latin typeface="Arial"/>
                <a:ea typeface="Arial"/>
                <a:cs typeface="Arial"/>
              </a:rPr>
              <a:t>Production readiness</a:t>
            </a:r>
          </a:p>
        </p:txBody>
      </p:sp>
      <p:sp>
        <p:nvSpPr>
          <p:cNvPr id="11" name="Security review, real yield&#10;">
            <a:extLst xmlns:a="http://schemas.openxmlformats.org/drawingml/2006/main">
              <a:ext uri="{FF2B5EF4-FFF2-40B4-BE49-F238E27FC236}">
                <a16:creationId xmlns:a16="http://schemas.microsoft.com/office/drawing/2014/main" id="{F24295AB-1E38-427F-A517-80CE9AE8E9CD}"/>
              </a:ext>
            </a:extLst>
          </p:cNvPr>
          <p:cNvSpPr>
            <a:spLocks xmlns:a="http://schemas.openxmlformats.org/drawingml/2006/main" noGrp="1"/>
          </p:cNvSpPr>
          <p:nvPr/>
        </p:nvSpPr>
        <p:spPr>
          <a:xfrm xmlns:a="http://schemas.openxmlformats.org/drawingml/2006/main">
            <a:off x="8372475" y="3905250"/>
            <a:ext cx="320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Security review, real yield</a:t>
            </a:r>
          </a:p>
          <a:p xmlns:a="http://schemas.openxmlformats.org/drawingml/2006/main">
            <a:pPr algn="l">
              <a:defRPr sz="1950" b="0">
                <a:solidFill>
                  <a:srgbClr val="696B66"/>
                </a:solidFill>
                <a:latin typeface="Arial"/>
                <a:ea typeface="Arial"/>
                <a:cs typeface="Arial"/>
              </a:defRPr>
            </a:pPr>
            <a:r>
              <a:rPr sz="1950" b="0">
                <a:solidFill>
                  <a:srgbClr val="696B66"/>
                </a:solidFill>
                <a:latin typeface="Arial"/>
                <a:ea typeface="Arial"/>
                <a:cs typeface="Arial"/>
              </a:rPr>
              <a:t>integration and paid tools</a:t>
            </a:r>
          </a:p>
        </p:txBody>
      </p:sp>
      <p:sp>
        <p:nvSpPr>
          <p:cNvPr id="12" name="First hosts: direct outreach">
            <a:extLst xmlns:a="http://schemas.openxmlformats.org/drawingml/2006/main">
              <a:ext uri="{FF2B5EF4-FFF2-40B4-BE49-F238E27FC236}">
                <a16:creationId xmlns:a16="http://schemas.microsoft.com/office/drawing/2014/main" id="{B5AC0680-21E3-42A9-9C57-AF742738B035}"/>
              </a:ext>
            </a:extLst>
          </p:cNvPr>
          <p:cNvSpPr>
            <a:spLocks xmlns:a="http://schemas.openxmlformats.org/drawingml/2006/main" noGrp="1"/>
          </p:cNvSpPr>
          <p:nvPr/>
        </p:nvSpPr>
        <p:spPr>
          <a:xfrm xmlns:a="http://schemas.openxmlformats.org/drawingml/2006/main">
            <a:off x="609600" y="55245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15C45"/>
                </a:solidFill>
                <a:latin typeface="Arial"/>
                <a:ea typeface="Arial"/>
                <a:cs typeface="Arial"/>
              </a:defRPr>
            </a:pPr>
            <a:r>
              <a:rPr sz="2025" b="1">
                <a:solidFill>
                  <a:srgbClr val="315C45"/>
                </a:solidFill>
                <a:latin typeface="Arial"/>
                <a:ea typeface="Arial"/>
                <a:cs typeface="Arial"/>
              </a:rPr>
              <a:t>First hosts: direct outreach to community workshop organizers, with help running their first event.</a:t>
            </a:r>
          </a:p>
        </p:txBody>
      </p:sp>
      <p:sp>
        <p:nvSpPr>
          <p:cNvPr id="13" name="Pilot counts are planning ta">
            <a:extLst xmlns:a="http://schemas.openxmlformats.org/drawingml/2006/main">
              <a:ext uri="{FF2B5EF4-FFF2-40B4-BE49-F238E27FC236}">
                <a16:creationId xmlns:a16="http://schemas.microsoft.com/office/drawing/2014/main" id="{BD70F09B-68E8-4887-8612-E4CFDD9490A6}"/>
              </a:ext>
            </a:extLst>
          </p:cNvPr>
          <p:cNvSpPr>
            <a:spLocks xmlns:a="http://schemas.openxmlformats.org/drawingml/2006/main" noGrp="1"/>
          </p:cNvSpPr>
          <p:nvPr/>
        </p:nvSpPr>
        <p:spPr>
          <a:xfrm xmlns:a="http://schemas.openxmlformats.org/drawingml/2006/main">
            <a:off x="609600" y="63150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96B66"/>
                </a:solidFill>
                <a:latin typeface="Arial"/>
                <a:ea typeface="Arial"/>
                <a:cs typeface="Arial"/>
              </a:defRPr>
            </a:pPr>
            <a:r>
              <a:rPr sz="1350" b="0">
                <a:solidFill>
                  <a:srgbClr val="696B66"/>
                </a:solidFill>
                <a:latin typeface="Arial"/>
                <a:ea typeface="Arial"/>
                <a:cs typeface="Arial"/>
              </a:rPr>
              <a:t>Pilot counts are planning targets. Measure attendance, repeat hosting and willingness to pay.</a:t>
            </a:r>
          </a:p>
        </p:txBody>
      </p:sp>
    </p:spTree>
    <p:extLst>
      <p:ext uri="{BB962C8B-B14F-4D97-AF65-F5344CB8AC3E}">
        <p14:creationId xmlns:p14="http://schemas.microsoft.com/office/powerpoint/2010/main" val="4200118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d7fd9b97eec4042"/>
          <a:srcRect xmlns:a="http://schemas.openxmlformats.org/drawingml/2006/main" l="70000" t="0" r="0" b="64000"/>
          <a:stretch xmlns:a="http://schemas.openxmlformats.org/drawingml/2006/main"/>
        </p:blipFill>
        <p:spPr>
          <a:xfrm xmlns:a="http://schemas.openxmlformats.org/drawingml/2006/main">
            <a:off x="9810750" y="0"/>
            <a:ext cx="2381250" cy="1608296"/>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5d7fd9b97eec4042"/>
          <a:srcRect xmlns:a="http://schemas.openxmlformats.org/drawingml/2006/main" l="0" t="60000" r="70000" b="0"/>
          <a:stretch xmlns:a="http://schemas.openxmlformats.org/drawingml/2006/main"/>
        </p:blipFill>
        <p:spPr>
          <a:xfrm xmlns:a="http://schemas.openxmlformats.org/drawingml/2006/main">
            <a:off x="0" y="5429250"/>
            <a:ext cx="1905000" cy="1429512"/>
          </a:xfrm>
          <a:prstGeom xmlns:a="http://schemas.openxmlformats.org/drawingml/2006/main" prst="rect">
            <a:avLst/>
          </a:prstGeom>
        </p:spPr>
      </p:pic>
      <p:sp>
        <p:nvSpPr>
          <p:cNvPr id="2" name="slideTitle">
            <a:extLst xmlns:a="http://schemas.openxmlformats.org/drawingml/2006/main">
              <a:ext uri="{FF2B5EF4-FFF2-40B4-BE49-F238E27FC236}">
                <a16:creationId xmlns:a16="http://schemas.microsoft.com/office/drawing/2014/main" id="{D2D192E7-C204-45FB-BBDB-159F2ECBC012}"/>
              </a:ext>
            </a:extLst>
          </p:cNvPr>
          <p:cNvSpPr>
            <a:spLocks xmlns:a="http://schemas.openxmlformats.org/drawingml/2006/main" noGrp="1"/>
          </p:cNvSpPr>
          <p:nvPr/>
        </p:nvSpPr>
        <p:spPr>
          <a:xfrm xmlns:a="http://schemas.openxmlformats.org/drawingml/2006/main">
            <a:off x="609600" y="5143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272622"/>
                </a:solidFill>
                <a:latin typeface="Arial"/>
                <a:ea typeface="Arial"/>
                <a:cs typeface="Arial"/>
              </a:defRPr>
            </a:pPr>
            <a:r>
              <a:rPr sz="4350" b="1">
                <a:solidFill>
                  <a:srgbClr val="272622"/>
                </a:solidFill>
                <a:latin typeface="Arial"/>
                <a:ea typeface="Arial"/>
                <a:cs typeface="Arial"/>
              </a:rPr>
              <a:t>Team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e10ea85d75a4249"/>
          <a:stretch xmlns:a="http://schemas.openxmlformats.org/drawingml/2006/main"/>
        </p:blipFill>
        <p:spPr>
          <a:xfrm xmlns:a="http://schemas.openxmlformats.org/drawingml/2006/main">
            <a:off x="609600" y="2009775"/>
            <a:ext cx="3667125" cy="3667125"/>
          </a:xfrm>
          <a:prstGeom xmlns:a="http://schemas.openxmlformats.org/drawingml/2006/main" prst="ellipse">
            <a:avLst/>
          </a:prstGeom>
        </p:spPr>
      </p:pic>
      <p:sp>
        <p:nvSpPr>
          <p:cNvPr id="4" name="Albary">
            <a:extLst xmlns:a="http://schemas.openxmlformats.org/drawingml/2006/main">
              <a:ext uri="{FF2B5EF4-FFF2-40B4-BE49-F238E27FC236}">
                <a16:creationId xmlns:a16="http://schemas.microsoft.com/office/drawing/2014/main" id="{167DD4C3-4E2A-4336-975F-3ABD7500918A}"/>
              </a:ext>
            </a:extLst>
          </p:cNvPr>
          <p:cNvSpPr>
            <a:spLocks xmlns:a="http://schemas.openxmlformats.org/drawingml/2006/main" noGrp="1"/>
          </p:cNvSpPr>
          <p:nvPr/>
        </p:nvSpPr>
        <p:spPr>
          <a:xfrm xmlns:a="http://schemas.openxmlformats.org/drawingml/2006/main">
            <a:off x="5019675" y="2171700"/>
            <a:ext cx="6553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272622"/>
                </a:solidFill>
                <a:latin typeface="Arial"/>
                <a:ea typeface="Arial"/>
                <a:cs typeface="Arial"/>
              </a:defRPr>
            </a:pPr>
            <a:r>
              <a:rPr sz="5100" b="1">
                <a:solidFill>
                  <a:srgbClr val="272622"/>
                </a:solidFill>
                <a:latin typeface="Arial"/>
                <a:ea typeface="Arial"/>
                <a:cs typeface="Arial"/>
              </a:rPr>
              <a:t>Albary</a:t>
            </a:r>
          </a:p>
        </p:txBody>
      </p:sp>
      <p:sp>
        <p:nvSpPr>
          <p:cNvPr id="5" name="Muhammad Meidy Noor Al Barry">
            <a:extLst xmlns:a="http://schemas.openxmlformats.org/drawingml/2006/main">
              <a:ext uri="{FF2B5EF4-FFF2-40B4-BE49-F238E27FC236}">
                <a16:creationId xmlns:a16="http://schemas.microsoft.com/office/drawing/2014/main" id="{132D72C3-1BBA-44B1-BF64-F36B8BDCD4A7}"/>
              </a:ext>
            </a:extLst>
          </p:cNvPr>
          <p:cNvSpPr>
            <a:spLocks xmlns:a="http://schemas.openxmlformats.org/drawingml/2006/main" noGrp="1"/>
          </p:cNvSpPr>
          <p:nvPr/>
        </p:nvSpPr>
        <p:spPr>
          <a:xfrm xmlns:a="http://schemas.openxmlformats.org/drawingml/2006/main">
            <a:off x="5038725" y="3276600"/>
            <a:ext cx="64865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272622"/>
                </a:solidFill>
                <a:latin typeface="Arial"/>
                <a:ea typeface="Arial"/>
                <a:cs typeface="Arial"/>
              </a:defRPr>
            </a:pPr>
            <a:r>
              <a:rPr sz="2700" b="0">
                <a:solidFill>
                  <a:srgbClr val="272622"/>
                </a:solidFill>
                <a:latin typeface="Arial"/>
                <a:ea typeface="Arial"/>
                <a:cs typeface="Arial"/>
              </a:rPr>
              <a:t>Muhammad Meidy Noor Al Barry</a:t>
            </a:r>
          </a:p>
        </p:txBody>
      </p:sp>
      <p:sp>
        <p:nvSpPr>
          <p:cNvPr id="6" name="Fullstack Developer">
            <a:extLst xmlns:a="http://schemas.openxmlformats.org/drawingml/2006/main">
              <a:ext uri="{FF2B5EF4-FFF2-40B4-BE49-F238E27FC236}">
                <a16:creationId xmlns:a16="http://schemas.microsoft.com/office/drawing/2014/main" id="{7C7374E3-3AC7-4A17-8626-AA4E09681DA8}"/>
              </a:ext>
            </a:extLst>
          </p:cNvPr>
          <p:cNvSpPr>
            <a:spLocks xmlns:a="http://schemas.openxmlformats.org/drawingml/2006/main" noGrp="1"/>
          </p:cNvSpPr>
          <p:nvPr/>
        </p:nvSpPr>
        <p:spPr>
          <a:xfrm xmlns:a="http://schemas.openxmlformats.org/drawingml/2006/main">
            <a:off x="5038725" y="4305300"/>
            <a:ext cx="6372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B9462D"/>
                </a:solidFill>
                <a:latin typeface="Arial"/>
                <a:ea typeface="Arial"/>
                <a:cs typeface="Arial"/>
              </a:defRPr>
            </a:pPr>
            <a:r>
              <a:rPr sz="2475" b="1">
                <a:solidFill>
                  <a:srgbClr val="B9462D"/>
                </a:solidFill>
                <a:latin typeface="Arial"/>
                <a:ea typeface="Arial"/>
                <a:cs typeface="Arial"/>
              </a:rPr>
              <a:t>Fullstack Developer</a:t>
            </a:r>
          </a:p>
        </p:txBody>
      </p:sp>
      <p:sp>
        <p:nvSpPr>
          <p:cNvPr id="7" name="Solo Builder">
            <a:extLst xmlns:a="http://schemas.openxmlformats.org/drawingml/2006/main">
              <a:ext uri="{FF2B5EF4-FFF2-40B4-BE49-F238E27FC236}">
                <a16:creationId xmlns:a16="http://schemas.microsoft.com/office/drawing/2014/main" id="{76CEE764-4BB0-42F6-81AC-FBEDA2395C74}"/>
              </a:ext>
            </a:extLst>
          </p:cNvPr>
          <p:cNvSpPr>
            <a:spLocks xmlns:a="http://schemas.openxmlformats.org/drawingml/2006/main" noGrp="1"/>
          </p:cNvSpPr>
          <p:nvPr/>
        </p:nvSpPr>
        <p:spPr>
          <a:xfrm xmlns:a="http://schemas.openxmlformats.org/drawingml/2006/main">
            <a:off x="5038725" y="4943475"/>
            <a:ext cx="6372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696B66"/>
                </a:solidFill>
                <a:latin typeface="Arial"/>
                <a:ea typeface="Arial"/>
                <a:cs typeface="Arial"/>
              </a:defRPr>
            </a:pPr>
            <a:r>
              <a:rPr sz="2175" b="0">
                <a:solidFill>
                  <a:srgbClr val="696B66"/>
                </a:solidFill>
                <a:latin typeface="Arial"/>
                <a:ea typeface="Arial"/>
                <a:cs typeface="Arial"/>
              </a:rPr>
              <a:t>Solo Builder</a:t>
            </a:r>
          </a:p>
        </p:txBody>
      </p:sp>
      <p:sp>
        <p:nvSpPr>
          <p:cNvPr id="8" name="X  @endpx_">
            <a:extLst xmlns:a="http://schemas.openxmlformats.org/drawingml/2006/main">
              <a:ext uri="{FF2B5EF4-FFF2-40B4-BE49-F238E27FC236}">
                <a16:creationId xmlns:a16="http://schemas.microsoft.com/office/drawing/2014/main" id="{4CECC25A-8FD2-4272-9F8E-EADED4681A59}"/>
              </a:ext>
            </a:extLst>
          </p:cNvPr>
          <p:cNvSpPr>
            <a:spLocks xmlns:a="http://schemas.openxmlformats.org/drawingml/2006/main" noGrp="1"/>
          </p:cNvSpPr>
          <p:nvPr/>
        </p:nvSpPr>
        <p:spPr>
          <a:xfrm xmlns:a="http://schemas.openxmlformats.org/drawingml/2006/main">
            <a:off x="5038725" y="5581650"/>
            <a:ext cx="63722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B9462D"/>
                </a:solidFill>
                <a:latin typeface="Arial"/>
                <a:ea typeface="Arial"/>
                <a:cs typeface="Arial"/>
              </a:defRPr>
            </a:pPr>
            <a:r>
              <a:rPr sz="2175" b="1">
                <a:solidFill>
                  <a:srgbClr val="B9462D"/>
                </a:solidFill>
                <a:latin typeface="Arial"/>
                <a:ea typeface="Arial"/>
                <a:cs typeface="Arial"/>
              </a:rPr>
              <a:t>X  </a:t>
            </a:r>
            <a:r>
              <a:rPr sz="2175" b="1">
                <a:solidFill>
                  <a:srgbClr val="B9462D"/>
                </a:solidFill>
                <a:latin typeface="Arial"/>
                <a:ea typeface="Arial"/>
                <a:cs typeface="Arial"/>
                <a:hlinkClick xmlns:r="http://schemas.openxmlformats.org/officeDocument/2006/relationships" r:id="Rede4d59866ec47d9"/>
              </a:rPr>
              <a:t>@endpx_</a:t>
            </a:r>
          </a:p>
        </p:txBody>
      </p:sp>
    </p:spTree>
    <p:extLst>
      <p:ext uri="{BB962C8B-B14F-4D97-AF65-F5344CB8AC3E}">
        <p14:creationId xmlns:p14="http://schemas.microsoft.com/office/powerpoint/2010/main" val="1863333367"/>
      </p:ext>
    </p:extLst>
  </p:cSld>
</p:sld>
</file>

<file path=ppt/slides/slide12.xml><?xml version="1.0" encoding="utf-8"?>
<p:sld xmlns:p="http://schemas.openxmlformats.org/presentationml/2006/main">
  <p:cSld>
    <p:bg>
      <p:bgPr>
        <a:solidFill xmlns:a="http://schemas.openxmlformats.org/drawingml/2006/main">
          <a:srgbClr val="272622"/>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988c76c49db44b2"/>
          <a:srcRect xmlns:a="http://schemas.openxmlformats.org/drawingml/2006/main" l="70000" t="0" r="0" b="58000"/>
          <a:stretch xmlns:a="http://schemas.openxmlformats.org/drawingml/2006/main"/>
        </p:blipFill>
        <p:spPr>
          <a:xfrm xmlns:a="http://schemas.openxmlformats.org/drawingml/2006/main">
            <a:off x="9810750" y="0"/>
            <a:ext cx="2381250" cy="1876234"/>
          </a:xfrm>
          <a:prstGeom xmlns:a="http://schemas.openxmlformats.org/drawingml/2006/main" prst="rect">
            <a:avLst/>
          </a:prstGeom>
        </p:spPr>
      </p:pic>
      <p:pic>
        <p:nvPicPr>
          <p:cNvPr id="9000" name=""/>
          <p:cNvPicPr>
            <a:picLocks xmlns:a="http://schemas.openxmlformats.org/drawingml/2006/main" noChangeAspect="1"/>
          </p:cNvPicPr>
          <p:nvPr/>
        </p:nvPicPr>
        <p:blipFill>
          <a:blip xmlns:r="http://schemas.openxmlformats.org/officeDocument/2006/relationships" xmlns:a="http://schemas.openxmlformats.org/drawingml/2006/main" r:embed="R6988c76c49db44b2"/>
          <a:srcRect xmlns:a="http://schemas.openxmlformats.org/drawingml/2006/main" l="0" t="55000" r="70000" b="0"/>
          <a:stretch xmlns:a="http://schemas.openxmlformats.org/drawingml/2006/main"/>
        </p:blipFill>
        <p:spPr>
          <a:xfrm xmlns:a="http://schemas.openxmlformats.org/drawingml/2006/main">
            <a:off x="0" y="5249799"/>
            <a:ext cx="1905000" cy="160820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943b81c32c8476e"/>
          <a:stretch xmlns:a="http://schemas.openxmlformats.org/drawingml/2006/main"/>
        </p:blipFill>
        <p:spPr>
          <a:xfrm xmlns:a="http://schemas.openxmlformats.org/drawingml/2006/main">
            <a:off x="476250" y="523875"/>
            <a:ext cx="1428750" cy="142875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F0C9E0A3-BE17-402B-9E6A-B38CE3DB8083}"/>
              </a:ext>
            </a:extLst>
          </p:cNvPr>
          <p:cNvSpPr>
            <a:spLocks xmlns:a="http://schemas.openxmlformats.org/drawingml/2006/main" noGrp="1"/>
          </p:cNvSpPr>
          <p:nvPr/>
        </p:nvSpPr>
        <p:spPr>
          <a:xfrm xmlns:a="http://schemas.openxmlformats.org/drawingml/2006/main">
            <a:off x="609600" y="2305050"/>
            <a:ext cx="52197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75" b="1">
                <a:solidFill>
                  <a:srgbClr val="FFFFFF"/>
                </a:solidFill>
                <a:latin typeface="Arial"/>
                <a:ea typeface="Arial"/>
                <a:cs typeface="Arial"/>
              </a:defRPr>
            </a:pPr>
            <a:r>
              <a:rPr sz="6375" b="1">
                <a:solidFill>
                  <a:srgbClr val="FFFFFF"/>
                </a:solidFill>
                <a:latin typeface="Arial"/>
                <a:ea typeface="Arial"/>
                <a:cs typeface="Arial"/>
              </a:rPr>
              <a:t>Thank you</a:t>
            </a:r>
          </a:p>
        </p:txBody>
      </p:sp>
      <p:sp>
        <p:nvSpPr>
          <p:cNvPr id="4" name="CommitPass">
            <a:extLst xmlns:a="http://schemas.openxmlformats.org/drawingml/2006/main">
              <a:ext uri="{FF2B5EF4-FFF2-40B4-BE49-F238E27FC236}">
                <a16:creationId xmlns:a16="http://schemas.microsoft.com/office/drawing/2014/main" id="{77491371-5692-4E20-9BEB-6C0BED473131}"/>
              </a:ext>
            </a:extLst>
          </p:cNvPr>
          <p:cNvSpPr>
            <a:spLocks xmlns:a="http://schemas.openxmlformats.org/drawingml/2006/main" noGrp="1"/>
          </p:cNvSpPr>
          <p:nvPr/>
        </p:nvSpPr>
        <p:spPr>
          <a:xfrm xmlns:a="http://schemas.openxmlformats.org/drawingml/2006/main">
            <a:off x="609600" y="3943350"/>
            <a:ext cx="5191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CommitPass</a:t>
            </a:r>
          </a:p>
        </p:txBody>
      </p:sp>
      <p:sp>
        <p:nvSpPr>
          <p:cNvPr id="5" name="Onchain commitments&#10;for even">
            <a:extLst xmlns:a="http://schemas.openxmlformats.org/drawingml/2006/main">
              <a:ext uri="{FF2B5EF4-FFF2-40B4-BE49-F238E27FC236}">
                <a16:creationId xmlns:a16="http://schemas.microsoft.com/office/drawing/2014/main" id="{FDAF4479-F767-4BEF-8D46-589B0DEEED21}"/>
              </a:ext>
            </a:extLst>
          </p:cNvPr>
          <p:cNvSpPr>
            <a:spLocks xmlns:a="http://schemas.openxmlformats.org/drawingml/2006/main" noGrp="1"/>
          </p:cNvSpPr>
          <p:nvPr/>
        </p:nvSpPr>
        <p:spPr>
          <a:xfrm xmlns:a="http://schemas.openxmlformats.org/drawingml/2006/main">
            <a:off x="609600" y="4848225"/>
            <a:ext cx="5191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E8C3B2"/>
                </a:solidFill>
                <a:latin typeface="Arial"/>
                <a:ea typeface="Arial"/>
                <a:cs typeface="Arial"/>
              </a:defRPr>
            </a:pPr>
            <a:r>
              <a:rPr sz="2400" b="1">
                <a:solidFill>
                  <a:srgbClr val="E8C3B2"/>
                </a:solidFill>
                <a:latin typeface="Arial"/>
                <a:ea typeface="Arial"/>
                <a:cs typeface="Arial"/>
              </a:rPr>
              <a:t>Onchain commitments</a:t>
            </a:r>
          </a:p>
          <a:p xmlns:a="http://schemas.openxmlformats.org/drawingml/2006/main">
            <a:pPr algn="l">
              <a:defRPr sz="2400" b="1">
                <a:solidFill>
                  <a:srgbClr val="E8C3B2"/>
                </a:solidFill>
                <a:latin typeface="Arial"/>
                <a:ea typeface="Arial"/>
                <a:cs typeface="Arial"/>
              </a:defRPr>
            </a:pPr>
            <a:r>
              <a:rPr sz="2400" b="1">
                <a:solidFill>
                  <a:srgbClr val="E8C3B2"/>
                </a:solidFill>
                <a:latin typeface="Arial"/>
                <a:ea typeface="Arial"/>
                <a:cs typeface="Arial"/>
              </a:rPr>
              <a:t>for events.</a:t>
            </a:r>
          </a:p>
        </p:txBody>
      </p:sp>
      <p:sp>
        <p:nvSpPr>
          <p:cNvPr id="6" name="GitHub">
            <a:extLst xmlns:a="http://schemas.openxmlformats.org/drawingml/2006/main">
              <a:ext uri="{FF2B5EF4-FFF2-40B4-BE49-F238E27FC236}">
                <a16:creationId xmlns:a16="http://schemas.microsoft.com/office/drawing/2014/main" id="{8269ED34-3191-47C1-937D-6828DA31A819}"/>
              </a:ext>
            </a:extLst>
          </p:cNvPr>
          <p:cNvSpPr>
            <a:spLocks xmlns:a="http://schemas.openxmlformats.org/drawingml/2006/main" noGrp="1"/>
          </p:cNvSpPr>
          <p:nvPr/>
        </p:nvSpPr>
        <p:spPr>
          <a:xfrm xmlns:a="http://schemas.openxmlformats.org/drawingml/2006/main">
            <a:off x="6296025" y="2133600"/>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F5E9E0"/>
                </a:solidFill>
                <a:latin typeface="Arial"/>
                <a:ea typeface="Arial"/>
                <a:cs typeface="Arial"/>
              </a:defRPr>
            </a:pPr>
            <a:r>
              <a:rPr sz="2250" b="1">
                <a:solidFill>
                  <a:srgbClr val="F5E9E0"/>
                </a:solidFill>
                <a:latin typeface="Arial"/>
                <a:ea typeface="Arial"/>
                <a:cs typeface="Arial"/>
              </a:rPr>
              <a:t>GitHub</a:t>
            </a:r>
          </a:p>
        </p:txBody>
      </p:sp>
      <p:sp>
        <p:nvSpPr>
          <p:cNvPr id="7" name="Try the app">
            <a:extLst xmlns:a="http://schemas.openxmlformats.org/drawingml/2006/main">
              <a:ext uri="{FF2B5EF4-FFF2-40B4-BE49-F238E27FC236}">
                <a16:creationId xmlns:a16="http://schemas.microsoft.com/office/drawing/2014/main" id="{F34F8344-A045-4F21-9AE9-D9C84158FF7B}"/>
              </a:ext>
            </a:extLst>
          </p:cNvPr>
          <p:cNvSpPr>
            <a:spLocks xmlns:a="http://schemas.openxmlformats.org/drawingml/2006/main" noGrp="1"/>
          </p:cNvSpPr>
          <p:nvPr/>
        </p:nvSpPr>
        <p:spPr>
          <a:xfrm xmlns:a="http://schemas.openxmlformats.org/drawingml/2006/main">
            <a:off x="9105900" y="2133600"/>
            <a:ext cx="249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250" b="1">
                <a:solidFill>
                  <a:srgbClr val="F5E9E0"/>
                </a:solidFill>
                <a:latin typeface="Arial"/>
                <a:ea typeface="Arial"/>
                <a:cs typeface="Arial"/>
              </a:defRPr>
            </a:pPr>
            <a:r>
              <a:rPr sz="2250" b="1">
                <a:solidFill>
                  <a:srgbClr val="F5E9E0"/>
                </a:solidFill>
                <a:latin typeface="Arial"/>
                <a:ea typeface="Arial"/>
                <a:cs typeface="Arial"/>
              </a:rPr>
              <a:t>Try the app</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7a2ef822f3f47c7"/>
          <a:stretch xmlns:a="http://schemas.openxmlformats.org/drawingml/2006/main"/>
        </p:blipFill>
        <p:spPr>
          <a:xfrm xmlns:a="http://schemas.openxmlformats.org/drawingml/2006/main">
            <a:off x="6419850" y="2705100"/>
            <a:ext cx="2247900" cy="2247900"/>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fad8ee3faf447be"/>
          <a:stretch xmlns:a="http://schemas.openxmlformats.org/drawingml/2006/main"/>
        </p:blipFill>
        <p:spPr>
          <a:xfrm xmlns:a="http://schemas.openxmlformats.org/drawingml/2006/main">
            <a:off x="9229725" y="2705100"/>
            <a:ext cx="2247900" cy="2247900"/>
          </a:xfrm>
          <a:prstGeom xmlns:a="http://schemas.openxmlformats.org/drawingml/2006/main" prst="rect">
            <a:avLst/>
          </a:prstGeom>
        </p:spPr>
      </p:pic>
      <p:sp>
        <p:nvSpPr>
          <p:cNvPr id="10" name="github.com/EndPx/commitpass">
            <a:extLst xmlns:a="http://schemas.openxmlformats.org/drawingml/2006/main">
              <a:ext uri="{FF2B5EF4-FFF2-40B4-BE49-F238E27FC236}">
                <a16:creationId xmlns:a16="http://schemas.microsoft.com/office/drawing/2014/main" id="{31FD6E0E-D8C4-461D-B8F6-E6DA9F536ED3}"/>
              </a:ext>
            </a:extLst>
          </p:cNvPr>
          <p:cNvSpPr>
            <a:spLocks xmlns:a="http://schemas.openxmlformats.org/drawingml/2006/main" noGrp="1"/>
          </p:cNvSpPr>
          <p:nvPr/>
        </p:nvSpPr>
        <p:spPr>
          <a:xfrm xmlns:a="http://schemas.openxmlformats.org/drawingml/2006/main">
            <a:off x="6181725" y="5238750"/>
            <a:ext cx="2724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E8C3B2"/>
                </a:solidFill>
                <a:latin typeface="Arial"/>
                <a:ea typeface="Arial"/>
                <a:cs typeface="Arial"/>
              </a:defRPr>
            </a:pPr>
            <a:r>
              <a:rPr sz="1500" b="0">
                <a:solidFill>
                  <a:srgbClr val="E8C3B2"/>
                </a:solidFill>
                <a:latin typeface="Arial"/>
                <a:ea typeface="Arial"/>
                <a:cs typeface="Arial"/>
                <a:hlinkClick xmlns:r="http://schemas.openxmlformats.org/officeDocument/2006/relationships" r:id="R47b2cadc107049da"/>
              </a:rPr>
              <a:t>github.com/EndPx/commitpass</a:t>
            </a:r>
          </a:p>
        </p:txBody>
      </p:sp>
      <p:sp>
        <p:nvSpPr>
          <p:cNvPr id="11" name="commitpass-event.vercel.app">
            <a:extLst xmlns:a="http://schemas.openxmlformats.org/drawingml/2006/main">
              <a:ext uri="{FF2B5EF4-FFF2-40B4-BE49-F238E27FC236}">
                <a16:creationId xmlns:a16="http://schemas.microsoft.com/office/drawing/2014/main" id="{9B0C8696-4072-47C9-83DF-612686920674}"/>
              </a:ext>
            </a:extLst>
          </p:cNvPr>
          <p:cNvSpPr>
            <a:spLocks xmlns:a="http://schemas.openxmlformats.org/drawingml/2006/main" noGrp="1"/>
          </p:cNvSpPr>
          <p:nvPr/>
        </p:nvSpPr>
        <p:spPr>
          <a:xfrm xmlns:a="http://schemas.openxmlformats.org/drawingml/2006/main">
            <a:off x="8991600" y="5238750"/>
            <a:ext cx="2724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E8C3B2"/>
                </a:solidFill>
                <a:latin typeface="Arial"/>
                <a:ea typeface="Arial"/>
                <a:cs typeface="Arial"/>
              </a:defRPr>
            </a:pPr>
            <a:r>
              <a:rPr sz="1500" b="0">
                <a:solidFill>
                  <a:srgbClr val="E8C3B2"/>
                </a:solidFill>
                <a:latin typeface="Arial"/>
                <a:ea typeface="Arial"/>
                <a:cs typeface="Arial"/>
                <a:hlinkClick xmlns:r="http://schemas.openxmlformats.org/officeDocument/2006/relationships" r:id="R83706cef4391416d"/>
              </a:rPr>
              <a:t>commitpass-event.vercel.app</a:t>
            </a:r>
          </a:p>
        </p:txBody>
      </p:sp>
    </p:spTree>
    <p:extLst>
      <p:ext uri="{BB962C8B-B14F-4D97-AF65-F5344CB8AC3E}">
        <p14:creationId xmlns:p14="http://schemas.microsoft.com/office/powerpoint/2010/main" val="3732668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2026-10-05T18:32:26.5690000Z</dcterms:created>
  <dcterms:modified xsi:type="dcterms:W3CDTF">2026-10-05T18:32:26.5690000Z</dcterms:modified>
</coreProperties>
</file>